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showGuides="1">
      <p:cViewPr varScale="1">
        <p:scale>
          <a:sx n="83" d="100"/>
          <a:sy n="83" d="100"/>
        </p:scale>
        <p:origin x="697" y="8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13-03-2026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13-03-2026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3/13/2026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13/03/2026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www.niti.gov.in/" TargetMode="External"/><Relationship Id="rId2" Type="http://schemas.openxmlformats.org/officeDocument/2006/relationships/hyperlink" Target="https://vahan.parivahan.gov.in/" TargetMode="External"/><Relationship Id="rId1" Type="http://schemas.openxmlformats.org/officeDocument/2006/relationships/slideLayout" Target="../slideLayouts/slideLayout3.xml"/><Relationship Id="rId6" Type="http://schemas.openxmlformats.org/officeDocument/2006/relationships/hyperlink" Target="https://github.com/krit-k7/EV-Demand-Impact-Analysis" TargetMode="External"/><Relationship Id="rId5" Type="http://schemas.openxmlformats.org/officeDocument/2006/relationships/hyperlink" Target="https://learn.microsoft.com/power-bi" TargetMode="External"/><Relationship Id="rId4" Type="http://schemas.openxmlformats.org/officeDocument/2006/relationships/hyperlink" Target="https://www.iea.org/" TargetMode="Externa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17379" y="1343054"/>
            <a:ext cx="4746772" cy="250676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a:latin typeface="+mj-lt"/>
                <a:ea typeface="+mj-ea"/>
                <a:cs typeface="+mj-cs"/>
              </a:rPr>
              <a:t>CAPSTONE </a:t>
            </a:r>
            <a:r>
              <a:rPr lang="en-US" sz="2800" b="1"/>
              <a:t>PROJECT</a:t>
            </a:r>
            <a:endParaRPr lang="en-US" sz="5100">
              <a:latin typeface="Aptos"/>
            </a:endParaRPr>
          </a:p>
          <a:p>
            <a:pPr algn="l"/>
            <a:br>
              <a:rPr lang="en-US" sz="5100" b="1" dirty="0"/>
            </a:br>
            <a:r>
              <a:rPr lang="en-US" sz="5100" b="1" cap="all">
                <a:latin typeface="Aptos"/>
              </a:rPr>
              <a:t>PROJECT TITLE</a:t>
            </a:r>
            <a:endParaRPr lang="en-US" sz="5100">
              <a:latin typeface="Aptos"/>
            </a:endParaRPr>
          </a:p>
          <a:p>
            <a:pPr algn="l"/>
            <a:endParaRPr lang="en-US" sz="5100" b="1" kern="1200"/>
          </a:p>
        </p:txBody>
      </p:sp>
      <p:sp>
        <p:nvSpPr>
          <p:cNvPr id="5" name="Subtitle 2"/>
          <p:cNvSpPr>
            <a:spLocks noGrp="1"/>
          </p:cNvSpPr>
          <p:nvPr/>
        </p:nvSpPr>
        <p:spPr>
          <a:xfrm>
            <a:off x="594127" y="3739889"/>
            <a:ext cx="4289868"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KRIT GIRI</a:t>
            </a:r>
          </a:p>
          <a:p>
            <a:pPr algn="l">
              <a:spcAft>
                <a:spcPts val="600"/>
              </a:spcAft>
            </a:pPr>
            <a:r>
              <a:rPr lang="en-US" sz="1600" b="1" cap="all" dirty="0"/>
              <a:t>College Name: NARULA INSTITUTE OF     TECHNOLOGY</a:t>
            </a:r>
          </a:p>
          <a:p>
            <a:pPr algn="l">
              <a:spcAft>
                <a:spcPts val="600"/>
              </a:spcAft>
            </a:pPr>
            <a:r>
              <a:rPr lang="en-US" sz="1600" b="1" cap="all" dirty="0"/>
              <a:t>Department: CSE (AI &amp; ML)</a:t>
            </a:r>
          </a:p>
          <a:p>
            <a:pPr algn="l">
              <a:spcAft>
                <a:spcPts val="600"/>
              </a:spcAft>
            </a:pPr>
            <a:r>
              <a:rPr lang="en-US" sz="1600" b="1" cap="all" dirty="0"/>
              <a:t>Email ID: kritgiri2006@gmail.com</a:t>
            </a:r>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p:cNvPicPr>
            <a:picLocks noChangeAspect="1"/>
          </p:cNvPicPr>
          <p:nvPr/>
        </p:nvPicPr>
        <p:blipFill>
          <a:blip r:embed="rId5"/>
          <a:stretch>
            <a:fillRect/>
          </a:stretch>
        </p:blipFill>
        <p:spPr>
          <a:xfrm>
            <a:off x="6409990" y="963029"/>
            <a:ext cx="4590784" cy="4936489"/>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panose="020B0604020202020204"/>
                <a:cs typeface="Arial" panose="020B0604020202020204"/>
              </a:rPr>
              <a:t>Problem Statement </a:t>
            </a:r>
            <a:r>
              <a:rPr lang="en-US" sz="2200" dirty="0">
                <a:latin typeface="Arial" panose="020B0604020202020204"/>
                <a:cs typeface="Arial" panose="020B0604020202020204"/>
              </a:rPr>
              <a:t>(Should not include solution)</a:t>
            </a:r>
          </a:p>
          <a:p>
            <a:pPr marL="305435" indent="-305435">
              <a:spcBef>
                <a:spcPct val="20000"/>
              </a:spcBef>
              <a:spcAft>
                <a:spcPts val="600"/>
              </a:spcAft>
            </a:pPr>
            <a:r>
              <a:rPr lang="en-US" sz="2200" b="1" dirty="0">
                <a:latin typeface="Arial" panose="020B0604020202020204"/>
                <a:cs typeface="Arial" panose="020B0604020202020204"/>
              </a:rPr>
              <a:t>Proposed System/Solution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System Development Approach </a:t>
            </a:r>
            <a:r>
              <a:rPr lang="en-US" sz="2200" dirty="0">
                <a:latin typeface="Arial" panose="020B0604020202020204"/>
                <a:cs typeface="Arial" panose="020B0604020202020204"/>
              </a:rPr>
              <a:t>(Technology Used) </a:t>
            </a:r>
          </a:p>
          <a:p>
            <a:pPr marL="305435" indent="-305435">
              <a:spcBef>
                <a:spcPct val="20000"/>
              </a:spcBef>
              <a:spcAft>
                <a:spcPts val="600"/>
              </a:spcAft>
            </a:pPr>
            <a:r>
              <a:rPr lang="en-US" sz="2200" b="1" dirty="0">
                <a:latin typeface="Arial" panose="020B0604020202020204"/>
                <a:cs typeface="Arial" panose="020B0604020202020204"/>
              </a:rPr>
              <a:t>Algorithm &amp; Deployment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Result (Output Image)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Conclusion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Future Scope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References</a:t>
            </a:r>
            <a:endParaRPr lang="en-US" sz="2200" dirty="0">
              <a:latin typeface="Arial" panose="020B0604020202020204"/>
              <a:cs typeface="Arial" panose="020B0604020202020204"/>
            </a:endParaRPr>
          </a:p>
          <a:p>
            <a:endParaRPr lang="en-GB" sz="2200" dirty="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2200" dirty="0"/>
              <a:t>Electric vehicle adoption is increasing rapidly across many cities as governments and organizations promote sustainable transportation. However, understanding EV demand trends, infrastructure growth, and environmental impact remains a challenge. Cities need data-driven insights to understand how EV registrations are changing over time, how charging infrastructure is developing, and how electric vehicles contribute to reducing carbon emissions.</a:t>
            </a:r>
          </a:p>
          <a:p>
            <a:pPr marL="0" indent="0">
              <a:buNone/>
            </a:pPr>
            <a:r>
              <a:rPr lang="en-US" sz="2200" dirty="0"/>
              <a:t>Analyzing historical EV data from 2015 to 2025 can help identify demand patterns across cities, evaluate infrastructure readiness, and understand the environmental benefits of EV adoption.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5" y="1304306"/>
            <a:ext cx="10515600" cy="4251960"/>
          </a:xfrm>
        </p:spPr>
        <p:txBody>
          <a:bodyPr vert="horz" lIns="91440" tIns="45720" rIns="91440" bIns="45720" rtlCol="0" anchor="t">
            <a:noAutofit/>
          </a:bodyPr>
          <a:lstStyle/>
          <a:p>
            <a:r>
              <a:rPr lang="en-US" sz="1200" b="1" dirty="0">
                <a:latin typeface="Calibri" panose="020F0502020204030204"/>
                <a:ea typeface="Calibri" panose="020F0502020204030204"/>
                <a:cs typeface="Calibri" panose="020F0502020204030204"/>
              </a:rPr>
              <a:t>The proposed system aims to analyze the demand and impact of electric vehicles using data analytics and visualization techniques. The project focuses on understanding EV adoption trends, infrastructure development, and environmental benefits from 2015 to 2025. The solution consists of the following components:</a:t>
            </a:r>
          </a:p>
          <a:p>
            <a:pPr marL="0" indent="0">
              <a:buNone/>
            </a:pPr>
            <a:r>
              <a:rPr lang="en-US" sz="1200" b="1" dirty="0">
                <a:latin typeface="Calibri" panose="020F0502020204030204" pitchFamily="34" charset="0"/>
                <a:ea typeface="Calibri" panose="020F0502020204030204" pitchFamily="34" charset="0"/>
                <a:cs typeface="Calibri" panose="020F0502020204030204" pitchFamily="34" charset="0"/>
              </a:rPr>
              <a:t>Data Collection</a:t>
            </a:r>
          </a:p>
          <a:p>
            <a:pPr>
              <a:lnSpc>
                <a:spcPct val="100000"/>
              </a:lnSpc>
              <a:spcBef>
                <a:spcPts val="0"/>
              </a:spcBef>
            </a:pPr>
            <a:r>
              <a:rPr lang="en-US" sz="1200" b="1" dirty="0">
                <a:latin typeface="Calibri" panose="020F0502020204030204" pitchFamily="34" charset="0"/>
                <a:ea typeface="Calibri" panose="020F0502020204030204" pitchFamily="34" charset="0"/>
                <a:cs typeface="Calibri" panose="020F0502020204030204" pitchFamily="34" charset="0"/>
              </a:rPr>
              <a:t>Historical EV data from 2015–2025 including registrations, vehicle types, charging stations, charging sessions, and CO₂ reduction was collected.</a:t>
            </a:r>
          </a:p>
          <a:p>
            <a:pPr>
              <a:lnSpc>
                <a:spcPct val="100000"/>
              </a:lnSpc>
              <a:spcBef>
                <a:spcPts val="0"/>
              </a:spcBef>
            </a:pPr>
            <a:r>
              <a:rPr lang="en-US" sz="1200" b="1" dirty="0">
                <a:latin typeface="Calibri" panose="020F0502020204030204" pitchFamily="34" charset="0"/>
                <a:ea typeface="Calibri" panose="020F0502020204030204" pitchFamily="34" charset="0"/>
                <a:cs typeface="Calibri" panose="020F0502020204030204" pitchFamily="34" charset="0"/>
              </a:rPr>
              <a:t>Data from major Indian cities was organized to analyze regional EV adoption trends.</a:t>
            </a:r>
          </a:p>
          <a:p>
            <a:pPr marL="0" indent="0">
              <a:lnSpc>
                <a:spcPct val="100000"/>
              </a:lnSpc>
              <a:spcBef>
                <a:spcPts val="0"/>
              </a:spcBef>
              <a:buNone/>
            </a:pPr>
            <a:r>
              <a:rPr lang="en-US" sz="1200" b="1" dirty="0">
                <a:latin typeface="Calibri" panose="020F0502020204030204" pitchFamily="34" charset="0"/>
                <a:ea typeface="Calibri" panose="020F0502020204030204" pitchFamily="34" charset="0"/>
                <a:cs typeface="Calibri" panose="020F0502020204030204" pitchFamily="34" charset="0"/>
              </a:rPr>
              <a:t>Data Preprocessing</a:t>
            </a:r>
          </a:p>
          <a:p>
            <a:pPr>
              <a:lnSpc>
                <a:spcPct val="100000"/>
              </a:lnSpc>
              <a:spcBef>
                <a:spcPts val="0"/>
              </a:spcBef>
            </a:pPr>
            <a:r>
              <a:rPr lang="en-US" sz="1200" b="1" dirty="0">
                <a:latin typeface="Calibri" panose="020F0502020204030204" pitchFamily="34" charset="0"/>
                <a:ea typeface="Calibri" panose="020F0502020204030204" pitchFamily="34" charset="0"/>
                <a:cs typeface="Calibri" panose="020F0502020204030204" pitchFamily="34" charset="0"/>
              </a:rPr>
              <a:t>The dataset was cleaned and structured using Microsoft Excel to remove inconsistencies and prepare it for analysis.</a:t>
            </a:r>
          </a:p>
          <a:p>
            <a:pPr>
              <a:lnSpc>
                <a:spcPct val="100000"/>
              </a:lnSpc>
              <a:spcBef>
                <a:spcPts val="0"/>
              </a:spcBef>
            </a:pPr>
            <a:r>
              <a:rPr lang="en-US" sz="1200" b="1" dirty="0">
                <a:latin typeface="Calibri" panose="020F0502020204030204" pitchFamily="34" charset="0"/>
                <a:ea typeface="Calibri" panose="020F0502020204030204" pitchFamily="34" charset="0"/>
                <a:cs typeface="Calibri" panose="020F0502020204030204" pitchFamily="34" charset="0"/>
              </a:rPr>
              <a:t>Relevant fields such as date, city, vehicle type, and infrastructure data were organized for visualization.</a:t>
            </a:r>
          </a:p>
          <a:p>
            <a:pPr marL="0" indent="0">
              <a:lnSpc>
                <a:spcPct val="100000"/>
              </a:lnSpc>
              <a:spcBef>
                <a:spcPts val="0"/>
              </a:spcBef>
              <a:buNone/>
            </a:pPr>
            <a:r>
              <a:rPr lang="en-US" sz="1200" b="1" dirty="0">
                <a:latin typeface="Calibri" panose="020F0502020204030204" pitchFamily="34" charset="0"/>
                <a:ea typeface="Calibri" panose="020F0502020204030204" pitchFamily="34" charset="0"/>
                <a:cs typeface="Calibri" panose="020F0502020204030204" pitchFamily="34" charset="0"/>
              </a:rPr>
              <a:t>Visualization</a:t>
            </a:r>
          </a:p>
          <a:p>
            <a:pPr>
              <a:lnSpc>
                <a:spcPct val="100000"/>
              </a:lnSpc>
              <a:spcBef>
                <a:spcPts val="0"/>
              </a:spcBef>
            </a:pPr>
            <a:r>
              <a:rPr lang="en-US" sz="1200" b="1" dirty="0">
                <a:latin typeface="Calibri" panose="020F0502020204030204" pitchFamily="34" charset="0"/>
                <a:ea typeface="Calibri" panose="020F0502020204030204" pitchFamily="34" charset="0"/>
                <a:cs typeface="Calibri" panose="020F0502020204030204" pitchFamily="34" charset="0"/>
              </a:rPr>
              <a:t>An interactive Power BI dashboard was developed to visualize EV adoption trends and infrastructure growth.</a:t>
            </a:r>
          </a:p>
          <a:p>
            <a:pPr>
              <a:lnSpc>
                <a:spcPct val="100000"/>
              </a:lnSpc>
              <a:spcBef>
                <a:spcPts val="0"/>
              </a:spcBef>
            </a:pPr>
            <a:r>
              <a:rPr lang="en-US" sz="1200" b="1" dirty="0">
                <a:latin typeface="Calibri" panose="020F0502020204030204" pitchFamily="34" charset="0"/>
                <a:ea typeface="Calibri" panose="020F0502020204030204" pitchFamily="34" charset="0"/>
                <a:cs typeface="Calibri" panose="020F0502020204030204" pitchFamily="34" charset="0"/>
              </a:rPr>
              <a:t>Charts such as line charts, bar charts, donut charts, and KPI cards were used to present insights clearly.</a:t>
            </a:r>
          </a:p>
          <a:p>
            <a:pPr marL="0" indent="0">
              <a:lnSpc>
                <a:spcPct val="100000"/>
              </a:lnSpc>
              <a:spcBef>
                <a:spcPts val="0"/>
              </a:spcBef>
              <a:buNone/>
            </a:pPr>
            <a:r>
              <a:rPr lang="en-US" sz="1200" b="1" dirty="0">
                <a:latin typeface="Calibri" panose="020F0502020204030204" pitchFamily="34" charset="0"/>
                <a:ea typeface="Calibri" panose="020F0502020204030204" pitchFamily="34" charset="0"/>
                <a:cs typeface="Calibri" panose="020F0502020204030204" pitchFamily="34" charset="0"/>
              </a:rPr>
              <a:t>Deployment</a:t>
            </a:r>
          </a:p>
          <a:p>
            <a:pPr>
              <a:lnSpc>
                <a:spcPct val="100000"/>
              </a:lnSpc>
              <a:spcBef>
                <a:spcPts val="0"/>
              </a:spcBef>
            </a:pPr>
            <a:r>
              <a:rPr lang="en-US" sz="1200" b="1" dirty="0">
                <a:latin typeface="Calibri" panose="020F0502020204030204" pitchFamily="34" charset="0"/>
                <a:ea typeface="Calibri" panose="020F0502020204030204" pitchFamily="34" charset="0"/>
                <a:cs typeface="Calibri" panose="020F0502020204030204" pitchFamily="34" charset="0"/>
              </a:rPr>
              <a:t>The dashboard was designed to allow interactive filtering and exploration of EV demand trends.</a:t>
            </a:r>
          </a:p>
          <a:p>
            <a:pPr>
              <a:lnSpc>
                <a:spcPct val="100000"/>
              </a:lnSpc>
              <a:spcBef>
                <a:spcPts val="0"/>
              </a:spcBef>
            </a:pPr>
            <a:r>
              <a:rPr lang="en-US" sz="1200" b="1" dirty="0">
                <a:latin typeface="Calibri" panose="020F0502020204030204" pitchFamily="34" charset="0"/>
                <a:ea typeface="Calibri" panose="020F0502020204030204" pitchFamily="34" charset="0"/>
                <a:cs typeface="Calibri" panose="020F0502020204030204" pitchFamily="34" charset="0"/>
              </a:rPr>
              <a:t>The solution can be deployed using Power BI for data-driven decision-making and reporting</a:t>
            </a:r>
          </a:p>
          <a:p>
            <a:pPr marL="305435" indent="-305435">
              <a:spcBef>
                <a:spcPct val="20000"/>
              </a:spcBef>
              <a:spcAft>
                <a:spcPts val="600"/>
              </a:spcAft>
              <a:buFont typeface="Arial" panose="020B0604020202020204"/>
              <a:buChar char="•"/>
            </a:pPr>
            <a:endParaRPr lang="en-US" sz="1200" b="1" dirty="0">
              <a:latin typeface="Calibri" panose="020F0502020204030204"/>
              <a:ea typeface="Calibri" panose="020F0502020204030204"/>
              <a:cs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9" y="1715586"/>
            <a:ext cx="10515600" cy="4251960"/>
          </a:xfrm>
        </p:spPr>
        <p:txBody>
          <a:bodyPr vert="horz" lIns="91440" tIns="45720" rIns="91440" bIns="45720" rtlCol="0">
            <a:normAutofit/>
          </a:bodyPr>
          <a:lstStyle/>
          <a:p>
            <a:pPr marL="0" indent="0">
              <a:buNone/>
            </a:pPr>
            <a:r>
              <a:rPr lang="en-US" sz="2200" b="1" dirty="0">
                <a:latin typeface="Franklin Gothic Book" panose="020B0503020102020204" pitchFamily="34" charset="0"/>
              </a:rPr>
              <a:t>System Requirements</a:t>
            </a:r>
          </a:p>
          <a:p>
            <a:r>
              <a:rPr lang="en-US" sz="2200" dirty="0">
                <a:latin typeface="Franklin Gothic Book" panose="020B0503020102020204" pitchFamily="34" charset="0"/>
              </a:rPr>
              <a:t>A computer system capable of running Microsoft Power BI and Microsoft Excel for data processing and visualization.</a:t>
            </a:r>
          </a:p>
          <a:p>
            <a:r>
              <a:rPr lang="en-US" sz="2200" dirty="0">
                <a:latin typeface="Franklin Gothic Book" panose="020B0503020102020204" pitchFamily="34" charset="0"/>
              </a:rPr>
              <a:t>A structured dataset containing EV registrations, charging stations, charging sessions, vehicle types, and CO₂ reduction data from 2015–2025.</a:t>
            </a:r>
          </a:p>
          <a:p>
            <a:pPr marL="0" indent="0">
              <a:buNone/>
            </a:pPr>
            <a:r>
              <a:rPr lang="en-US" sz="2200" b="1" dirty="0">
                <a:latin typeface="Franklin Gothic Book" panose="020B0503020102020204" pitchFamily="34" charset="0"/>
              </a:rPr>
              <a:t>Libraries / Tools Required</a:t>
            </a:r>
          </a:p>
          <a:p>
            <a:r>
              <a:rPr lang="en-US" sz="2200" dirty="0">
                <a:latin typeface="Franklin Gothic Book" panose="020B0503020102020204" pitchFamily="34" charset="0"/>
              </a:rPr>
              <a:t>Microsoft Excel for data cleaning, preprocessing, and organizing the dataset.</a:t>
            </a:r>
          </a:p>
          <a:p>
            <a:r>
              <a:rPr lang="en-US" sz="2200" dirty="0">
                <a:latin typeface="Franklin Gothic Book" panose="020B0503020102020204" pitchFamily="34" charset="0"/>
              </a:rPr>
              <a:t>Microsoft Power BI for building interactive dashboards, charts, KPI cards, and data analysis.</a:t>
            </a:r>
          </a:p>
          <a:p>
            <a:pPr marL="0" indent="0">
              <a:spcBef>
                <a:spcPct val="20000"/>
              </a:spcBef>
              <a:spcAft>
                <a:spcPts val="600"/>
              </a:spcAft>
              <a:buNone/>
            </a:pPr>
            <a:endParaRPr lang="en-GB"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700" y="1572196"/>
            <a:ext cx="10515600" cy="4251960"/>
          </a:xfrm>
        </p:spPr>
        <p:txBody>
          <a:bodyPr vert="horz" lIns="91440" tIns="45720" rIns="91440" bIns="45720" rtlCol="0">
            <a:normAutofit fontScale="92500" lnSpcReduction="10000"/>
          </a:bodyPr>
          <a:lstStyle/>
          <a:p>
            <a:pPr marL="0" indent="0">
              <a:buNone/>
            </a:pPr>
            <a:r>
              <a:rPr lang="en-US" sz="1600" b="1" dirty="0">
                <a:latin typeface="Franklin Gothic Book" panose="020B0503020102020204" pitchFamily="34" charset="0"/>
              </a:rPr>
              <a:t>Algorithm Selection</a:t>
            </a:r>
          </a:p>
          <a:p>
            <a:r>
              <a:rPr lang="en-US" sz="1600" dirty="0">
                <a:latin typeface="Franklin Gothic Book" panose="020B0503020102020204" pitchFamily="34" charset="0"/>
              </a:rPr>
              <a:t>The project uses data analytics and visualization techniques instead of a machine learning model to analyze EV demand trends.</a:t>
            </a:r>
          </a:p>
          <a:p>
            <a:r>
              <a:rPr lang="en-US" sz="1600" dirty="0">
                <a:latin typeface="Franklin Gothic Book" panose="020B0503020102020204" pitchFamily="34" charset="0"/>
              </a:rPr>
              <a:t>Aggregation and filtering methods in Power BI were used to summarize EV registrations by year, city, and vehicle type.</a:t>
            </a:r>
          </a:p>
          <a:p>
            <a:pPr marL="0" indent="0">
              <a:buNone/>
            </a:pPr>
            <a:r>
              <a:rPr lang="en-US" sz="1600" b="1" dirty="0">
                <a:latin typeface="Franklin Gothic Book" panose="020B0503020102020204" pitchFamily="34" charset="0"/>
              </a:rPr>
              <a:t>Data Input</a:t>
            </a:r>
          </a:p>
          <a:p>
            <a:r>
              <a:rPr lang="en-US" sz="1600" dirty="0">
                <a:latin typeface="Franklin Gothic Book" panose="020B0503020102020204" pitchFamily="34" charset="0"/>
              </a:rPr>
              <a:t>The dataset includes EV registrations, vehicle type, charging stations, charging sessions, and CO₂ reduction data from 2015–2025.</a:t>
            </a:r>
          </a:p>
          <a:p>
            <a:r>
              <a:rPr lang="en-US" sz="1600" dirty="0">
                <a:latin typeface="Franklin Gothic Book" panose="020B0503020102020204" pitchFamily="34" charset="0"/>
              </a:rPr>
              <a:t>The data also contains city-wise information to analyze regional EV adoption patterns.</a:t>
            </a:r>
          </a:p>
          <a:p>
            <a:pPr marL="0" indent="0">
              <a:buNone/>
            </a:pPr>
            <a:r>
              <a:rPr lang="en-US" sz="1600" b="1" dirty="0">
                <a:latin typeface="Franklin Gothic Book" panose="020B0503020102020204" pitchFamily="34" charset="0"/>
              </a:rPr>
              <a:t>Training Process</a:t>
            </a:r>
          </a:p>
          <a:p>
            <a:r>
              <a:rPr lang="en-US" sz="1600" dirty="0">
                <a:latin typeface="Franklin Gothic Book" panose="020B0503020102020204" pitchFamily="34" charset="0"/>
              </a:rPr>
              <a:t>The dataset was cleaned and preprocessed in Microsoft Excel to ensure accurate analysis.</a:t>
            </a:r>
          </a:p>
          <a:p>
            <a:r>
              <a:rPr lang="en-US" sz="1600" dirty="0">
                <a:latin typeface="Franklin Gothic Book" panose="020B0503020102020204" pitchFamily="34" charset="0"/>
              </a:rPr>
              <a:t>Data was then imported into Power BI, where relationships and measures were created to calculate totals and trends.</a:t>
            </a:r>
          </a:p>
          <a:p>
            <a:pPr marL="0" indent="0">
              <a:buNone/>
            </a:pPr>
            <a:r>
              <a:rPr lang="en-US" sz="1600" b="1" dirty="0">
                <a:latin typeface="Franklin Gothic Book" panose="020B0503020102020204" pitchFamily="34" charset="0"/>
              </a:rPr>
              <a:t>Prediction / Analysis Process</a:t>
            </a:r>
          </a:p>
          <a:p>
            <a:r>
              <a:rPr lang="en-US" sz="1600" dirty="0">
                <a:latin typeface="Franklin Gothic Book" panose="020B0503020102020204" pitchFamily="34" charset="0"/>
              </a:rPr>
              <a:t>Power BI visualizations such as line charts, bar charts, donut charts, and KPI cards were used to analyze EV demand patterns.</a:t>
            </a:r>
          </a:p>
          <a:p>
            <a:r>
              <a:rPr lang="en-US" sz="1600" dirty="0">
                <a:latin typeface="Franklin Gothic Book" panose="020B0503020102020204" pitchFamily="34" charset="0"/>
              </a:rPr>
              <a:t>Interactive filters and slicers allow users to explore EV growth trends and infrastructure development across cities and years.</a:t>
            </a:r>
          </a:p>
          <a:p>
            <a:pPr marL="305435" indent="-305435">
              <a:spcBef>
                <a:spcPct val="20000"/>
              </a:spcBef>
              <a:spcAft>
                <a:spcPts val="600"/>
              </a:spcAft>
              <a:buFont typeface="Arial" panose="020B0604020202020204"/>
              <a:buChar char="•"/>
            </a:pPr>
            <a:endParaRPr lang="en-GB"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Result:</a:t>
            </a:r>
            <a:endParaRPr lang="en-US" sz="4000" dirty="0"/>
          </a:p>
        </p:txBody>
      </p:sp>
      <p:pic>
        <p:nvPicPr>
          <p:cNvPr id="5" name="Content Placeholder 4">
            <a:extLst>
              <a:ext uri="{FF2B5EF4-FFF2-40B4-BE49-F238E27FC236}">
                <a16:creationId xmlns:a16="http://schemas.microsoft.com/office/drawing/2014/main" id="{D38A794E-8FBB-022E-4775-D6F538A438E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03325" y="1584325"/>
            <a:ext cx="7585226" cy="4251325"/>
          </a:xfrm>
        </p:spPr>
      </p:pic>
      <p:pic>
        <p:nvPicPr>
          <p:cNvPr id="9" name="Picture 8">
            <a:extLst>
              <a:ext uri="{FF2B5EF4-FFF2-40B4-BE49-F238E27FC236}">
                <a16:creationId xmlns:a16="http://schemas.microsoft.com/office/drawing/2014/main" id="{739F6009-CC2D-F488-D2B3-13C9A2763A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1235" y="1266031"/>
            <a:ext cx="7960765" cy="4639429"/>
          </a:xfrm>
          <a:prstGeom prst="rect">
            <a:avLst/>
          </a:prstGeom>
        </p:spPr>
      </p:pic>
      <p:sp>
        <p:nvSpPr>
          <p:cNvPr id="10" name="TextBox 9">
            <a:extLst>
              <a:ext uri="{FF2B5EF4-FFF2-40B4-BE49-F238E27FC236}">
                <a16:creationId xmlns:a16="http://schemas.microsoft.com/office/drawing/2014/main" id="{5AD6A772-105F-D3B6-2BD7-5AD855384AFB}"/>
              </a:ext>
            </a:extLst>
          </p:cNvPr>
          <p:cNvSpPr txBox="1"/>
          <p:nvPr/>
        </p:nvSpPr>
        <p:spPr>
          <a:xfrm>
            <a:off x="0" y="1514514"/>
            <a:ext cx="4226767" cy="4390946"/>
          </a:xfrm>
          <a:prstGeom prst="rect">
            <a:avLst/>
          </a:prstGeom>
          <a:noFill/>
        </p:spPr>
        <p:txBody>
          <a:bodyPr wrap="square" rtlCol="0">
            <a:spAutoFit/>
          </a:bodyPr>
          <a:lstStyle/>
          <a:p>
            <a:r>
              <a:rPr lang="en-US" b="1" dirty="0"/>
              <a:t>Key Insights:</a:t>
            </a:r>
          </a:p>
          <a:p>
            <a:pPr marL="285750" indent="-285750">
              <a:spcBef>
                <a:spcPts val="800"/>
              </a:spcBef>
              <a:buFont typeface="Arial" panose="020B0604020202020204" pitchFamily="34" charset="0"/>
              <a:buChar char="•"/>
            </a:pPr>
            <a:r>
              <a:rPr lang="en-US" sz="1600" dirty="0"/>
              <a:t>EV adoption has increased significantly from 2015 to 2025, showing strong growth in electric mobility.</a:t>
            </a:r>
          </a:p>
          <a:p>
            <a:pPr marL="285750" indent="-285750">
              <a:spcBef>
                <a:spcPts val="800"/>
              </a:spcBef>
              <a:buFont typeface="Arial" panose="020B0604020202020204" pitchFamily="34" charset="0"/>
              <a:buChar char="•"/>
            </a:pPr>
            <a:r>
              <a:rPr lang="en-US" sz="1600" dirty="0"/>
              <a:t>Bengaluru, Delhi, and Mumbai lead EV registrations among major cities.</a:t>
            </a:r>
          </a:p>
          <a:p>
            <a:pPr marL="285750" indent="-285750">
              <a:spcBef>
                <a:spcPts val="800"/>
              </a:spcBef>
              <a:buFont typeface="Arial" panose="020B0604020202020204" pitchFamily="34" charset="0"/>
              <a:buChar char="•"/>
            </a:pPr>
            <a:r>
              <a:rPr lang="en-US" sz="1600" dirty="0"/>
              <a:t>Two-wheelers (bikes) account for the majority of EV registrations in India.</a:t>
            </a:r>
          </a:p>
          <a:p>
            <a:pPr marL="285750" indent="-285750">
              <a:spcBef>
                <a:spcPts val="800"/>
              </a:spcBef>
              <a:buFont typeface="Arial" panose="020B0604020202020204" pitchFamily="34" charset="0"/>
              <a:buChar char="•"/>
            </a:pPr>
            <a:r>
              <a:rPr lang="en-US" sz="1600" dirty="0"/>
              <a:t>A noticeable drop in EV registrations occurred in 2020 due to the COVID-19 lockdown.</a:t>
            </a:r>
          </a:p>
          <a:p>
            <a:pPr marL="285750" indent="-285750">
              <a:spcBef>
                <a:spcPts val="800"/>
              </a:spcBef>
              <a:buFont typeface="Arial" panose="020B0604020202020204" pitchFamily="34" charset="0"/>
              <a:buChar char="•"/>
            </a:pPr>
            <a:r>
              <a:rPr lang="en-US" sz="1600" dirty="0"/>
              <a:t>Growth in charging stations and charging sessions indicates improving EV infrastructure and usage</a:t>
            </a:r>
            <a:r>
              <a:rPr lang="en-US" dirty="0"/>
              <a:t>.</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a:bodyPr>
          <a:lstStyle/>
          <a:p>
            <a:pPr marL="0" indent="0">
              <a:lnSpc>
                <a:spcPct val="100000"/>
              </a:lnSpc>
              <a:buNone/>
            </a:pPr>
            <a:r>
              <a:rPr lang="en-US" sz="2200" dirty="0"/>
              <a:t>Electric vehicle adoption has shown significant growth from 2015 to 2025, highlighting the increasing shift toward sustainable transportation. The developed Power BI dashboard effectively analyzes EV registrations, charging infrastructure development, and environmental impact across major cities. The analysis reveals that metropolitan cities such as Bengaluru, Delhi, and Mumbai lead EV adoption, while two-wheelers dominate the EV market. The insights obtained from this dashboard can help policymakers and organizations understand EV demand patterns and support better planning for future electric mobility infrastructure.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1" y="1304434"/>
            <a:ext cx="10515600" cy="4251960"/>
          </a:xfrm>
        </p:spPr>
        <p:txBody>
          <a:bodyPr vert="horz" lIns="91440" tIns="45720" rIns="91440" bIns="45720" rtlCol="0">
            <a:normAutofit/>
          </a:bodyPr>
          <a:lstStyle/>
          <a:p>
            <a:pPr marL="0" indent="0">
              <a:spcBef>
                <a:spcPct val="20000"/>
              </a:spcBef>
              <a:spcAft>
                <a:spcPts val="600"/>
              </a:spcAft>
              <a:buNone/>
            </a:pPr>
            <a:endParaRPr lang="en-US" sz="2200" dirty="0">
              <a:latin typeface="Franklin Gothic Book" panose="020B0503020102020204"/>
            </a:endParaRPr>
          </a:p>
          <a:p>
            <a:pPr marL="0" indent="0">
              <a:spcBef>
                <a:spcPts val="800"/>
              </a:spcBef>
              <a:buNone/>
            </a:pPr>
            <a:r>
              <a:rPr lang="en-US" sz="2400" dirty="0"/>
              <a:t>Future improvements can enhance the EV demand analysis system by integrating additional real-time data sources such as government EV policies, charging station availability, and regional economic indicators. </a:t>
            </a:r>
          </a:p>
          <a:p>
            <a:pPr marL="0" indent="0">
              <a:spcBef>
                <a:spcPts val="800"/>
              </a:spcBef>
              <a:buNone/>
            </a:pPr>
            <a:r>
              <a:rPr lang="en-US" sz="2400" dirty="0"/>
              <a:t>Advanced analytics and machine learning models can be incorporated to forecast future EV adoption trends more accurately.</a:t>
            </a:r>
          </a:p>
          <a:p>
            <a:pPr marL="0" indent="0">
              <a:spcBef>
                <a:spcPts val="800"/>
              </a:spcBef>
              <a:buNone/>
            </a:pPr>
            <a:r>
              <a:rPr lang="en-US" sz="2400" dirty="0"/>
              <a:t>The system can also be expanded to include more cities and states across India, enabling large-scale monitoring of electric mobility growth.</a:t>
            </a:r>
          </a:p>
          <a:p>
            <a:pPr marL="0" indent="0">
              <a:spcBef>
                <a:spcPts val="800"/>
              </a:spcBef>
              <a:buNone/>
            </a:pPr>
            <a:r>
              <a:rPr lang="en-US" sz="2400" dirty="0"/>
              <a:t>Additionally, integrating geographic mapping and predictive infrastructure planning could help policymakers and organizations optimize charging station deployment and support sustainable transportation development.</a:t>
            </a:r>
            <a:endParaRPr lang="en-GB" sz="2200" dirty="0"/>
          </a:p>
          <a:p>
            <a:pPr marL="0" indent="0">
              <a:buNone/>
            </a:pPr>
            <a:endParaRPr lang="en-GB"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References:</a:t>
            </a:r>
            <a:endParaRPr lang="en-US" sz="400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pPr marL="0" indent="0">
              <a:spcBef>
                <a:spcPts val="0"/>
              </a:spcBef>
              <a:buNone/>
            </a:pPr>
            <a:r>
              <a:rPr lang="en-US" sz="2200" dirty="0"/>
              <a:t>• Government of India EV Data: Ministry of Road Transport and Highways (VAHAN Database) – </a:t>
            </a:r>
            <a:r>
              <a:rPr lang="en-US" sz="2200" dirty="0">
                <a:hlinkClick r:id="rId2"/>
              </a:rPr>
              <a:t>https://vahan.parivahan.gov.in</a:t>
            </a:r>
            <a:endParaRPr lang="en-US" sz="2200" dirty="0"/>
          </a:p>
          <a:p>
            <a:pPr marL="0" indent="0">
              <a:spcBef>
                <a:spcPts val="0"/>
              </a:spcBef>
              <a:buNone/>
            </a:pPr>
            <a:r>
              <a:rPr lang="en-US" sz="2200" dirty="0"/>
              <a:t>• NITI Aayog Reports on Electric Mobility in India – </a:t>
            </a:r>
            <a:r>
              <a:rPr lang="en-US" sz="2200" dirty="0">
                <a:hlinkClick r:id="rId3"/>
              </a:rPr>
              <a:t>https://www.niti.gov.in</a:t>
            </a:r>
            <a:endParaRPr lang="en-US" sz="2200" dirty="0"/>
          </a:p>
          <a:p>
            <a:pPr marL="0" indent="0">
              <a:spcBef>
                <a:spcPts val="0"/>
              </a:spcBef>
              <a:buNone/>
            </a:pPr>
            <a:r>
              <a:rPr lang="en-US" sz="2200" dirty="0"/>
              <a:t>• International Energy Agency (IEA) Global EV Outlook Reports – </a:t>
            </a:r>
            <a:r>
              <a:rPr lang="en-US" sz="2200" dirty="0">
                <a:hlinkClick r:id="rId4"/>
              </a:rPr>
              <a:t>https://www.iea.org</a:t>
            </a:r>
            <a:endParaRPr lang="en-US" sz="2200" dirty="0"/>
          </a:p>
          <a:p>
            <a:pPr marL="0" indent="0">
              <a:spcBef>
                <a:spcPts val="0"/>
              </a:spcBef>
              <a:buNone/>
            </a:pPr>
            <a:r>
              <a:rPr lang="en-US" sz="2200" dirty="0"/>
              <a:t>• Microsoft Power BI Documentation –  </a:t>
            </a:r>
            <a:r>
              <a:rPr lang="en-US" sz="2200" dirty="0">
                <a:hlinkClick r:id="rId5"/>
              </a:rPr>
              <a:t>https://learn.microsoft.com/power-bi</a:t>
            </a:r>
            <a:r>
              <a:rPr lang="en-US" sz="2200" dirty="0"/>
              <a:t> </a:t>
            </a:r>
          </a:p>
          <a:p>
            <a:pPr marL="0" indent="0">
              <a:spcBef>
                <a:spcPts val="0"/>
              </a:spcBef>
              <a:buNone/>
            </a:pPr>
            <a:r>
              <a:rPr lang="en-US" sz="2200" dirty="0"/>
              <a:t>• Electric Vehicle Market Research Articles and Reports</a:t>
            </a:r>
          </a:p>
          <a:p>
            <a:pPr marL="0" indent="0">
              <a:buNone/>
            </a:pPr>
            <a:endParaRPr lang="en-US" sz="2200" dirty="0">
              <a:latin typeface="Aptos"/>
            </a:endParaRPr>
          </a:p>
          <a:p>
            <a:pPr marL="0" indent="0">
              <a:buNone/>
            </a:pPr>
            <a:r>
              <a:rPr lang="en-IN" sz="2200" dirty="0">
                <a:latin typeface="Franklin Gothic Book" panose="020B0503020102020204"/>
              </a:rPr>
              <a:t>GitHub Link: </a:t>
            </a:r>
            <a:r>
              <a:rPr lang="en-IN" sz="2200" dirty="0">
                <a:latin typeface="Franklin Gothic Book" panose="020B0503020102020204"/>
                <a:hlinkClick r:id="rId6"/>
              </a:rPr>
              <a:t>https://github.com/krit-k7/EV-Demand-Impact-Analysis</a:t>
            </a:r>
            <a:endParaRPr lang="en-US" sz="2200" dirty="0"/>
          </a:p>
          <a:p>
            <a:pPr marL="0" indent="0">
              <a:buNone/>
            </a:pPr>
            <a:endParaRPr lang="en-IN" sz="2200" u="sng" dirty="0">
              <a:solidFill>
                <a:srgbClr val="0070C0"/>
              </a:solidFill>
              <a:latin typeface="Franklin Gothic Book" panose="020B0503020102020204"/>
            </a:endParaRPr>
          </a:p>
          <a:p>
            <a:pPr marL="0" indent="0">
              <a:buNone/>
            </a:pPr>
            <a:endParaRPr lang="en-IN" sz="2200" u="sng" dirty="0">
              <a:solidFill>
                <a:srgbClr val="0070C0"/>
              </a:solidFill>
              <a:latin typeface="Franklin Gothic Book" panose="020B0503020102020204"/>
            </a:endParaRPr>
          </a:p>
          <a:p>
            <a:pPr marL="0" indent="0">
              <a:buNone/>
            </a:pPr>
            <a:endParaRPr lang="en-IN" sz="2200" dirty="0">
              <a:latin typeface="Franklin Gothic Book" panose="020B05030201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TotalTime>
  <Words>988</Words>
  <Application>Microsoft Office PowerPoint</Application>
  <PresentationFormat>Widescreen</PresentationFormat>
  <Paragraphs>80</Paragraphs>
  <Slides>11</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Ashok Giri</cp:lastModifiedBy>
  <cp:revision>104</cp:revision>
  <dcterms:created xsi:type="dcterms:W3CDTF">2024-05-21T11:55:00Z</dcterms:created>
  <dcterms:modified xsi:type="dcterms:W3CDTF">2026-03-13T12:36:15Z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