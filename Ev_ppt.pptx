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4"/>
  </p:notesMasterIdLst>
  <p:sldIdLst>
    <p:sldId id="256" r:id="rId3"/>
    <p:sldId id="571" r:id="rId4"/>
    <p:sldId id="572" r:id="rId5"/>
    <p:sldId id="573" r:id="rId6"/>
    <p:sldId id="574" r:id="rId7"/>
    <p:sldId id="575" r:id="rId8"/>
    <p:sldId id="576" r:id="rId9"/>
    <p:sldId id="577" r:id="rId10"/>
    <p:sldId id="579" r:id="rId11"/>
    <p:sldId id="578" r:id="rId12"/>
    <p:sldId id="536"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3818" autoAdjust="0"/>
  </p:normalViewPr>
  <p:slideViewPr>
    <p:cSldViewPr snapToGrid="0">
      <p:cViewPr varScale="1">
        <p:scale>
          <a:sx n="83" d="100"/>
          <a:sy n="83" d="100"/>
        </p:scale>
        <p:origin x="697" y="8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13-03-2026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11</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13-03-2026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3/13/2026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13/03/2026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6" Type="http://schemas.openxmlformats.org/officeDocument/2006/relationships/image" Target="../media/image2.jpeg"/><Relationship Id="rId5" Type="http://schemas.openxmlformats.org/officeDocument/2006/relationships/hyperlink" Target="mailto:kritgiri2006@gmail.com"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www.niti.gov.in/" TargetMode="External"/><Relationship Id="rId2" Type="http://schemas.openxmlformats.org/officeDocument/2006/relationships/hyperlink" Target="https://vahan.parivahan.gov.in/" TargetMode="External"/><Relationship Id="rId1" Type="http://schemas.openxmlformats.org/officeDocument/2006/relationships/slideLayout" Target="../slideLayouts/slideLayout3.xml"/><Relationship Id="rId6" Type="http://schemas.openxmlformats.org/officeDocument/2006/relationships/hyperlink" Target="https://github.com/krit-k7/EV-Demand-Impact-Analysis" TargetMode="External"/><Relationship Id="rId5" Type="http://schemas.openxmlformats.org/officeDocument/2006/relationships/hyperlink" Target="https://learn.microsoft.com/power-bi" TargetMode="External"/><Relationship Id="rId4" Type="http://schemas.openxmlformats.org/officeDocument/2006/relationships/hyperlink" Target="https://www.iea.org/"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7379" y="1660290"/>
            <a:ext cx="4746772" cy="250676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3000" b="1" dirty="0"/>
              <a:t>Electric Vehicle Demand &amp; Impact Analysis (2015–2025)</a:t>
            </a:r>
            <a:endParaRPr lang="en-US" sz="3000" b="1" dirty="0">
              <a:latin typeface="Aptos"/>
            </a:endParaRPr>
          </a:p>
          <a:p>
            <a:pPr algn="l"/>
            <a:endParaRPr lang="en-US" sz="51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Krit Giri</a:t>
            </a:r>
          </a:p>
          <a:p>
            <a:pPr algn="l">
              <a:spcAft>
                <a:spcPts val="600"/>
              </a:spcAft>
            </a:pPr>
            <a:r>
              <a:rPr lang="en-US" sz="1600" b="1" cap="all" dirty="0"/>
              <a:t>College Name: NARULA INSTITUTE OF TECHNOLOGY</a:t>
            </a:r>
          </a:p>
          <a:p>
            <a:pPr algn="l">
              <a:spcAft>
                <a:spcPts val="600"/>
              </a:spcAft>
            </a:pPr>
            <a:r>
              <a:rPr lang="en-US" sz="1600" b="1" cap="all" dirty="0"/>
              <a:t>Department: Cse (ai &amp; ml)</a:t>
            </a:r>
          </a:p>
          <a:p>
            <a:pPr algn="l">
              <a:spcAft>
                <a:spcPts val="600"/>
              </a:spcAft>
            </a:pPr>
            <a:r>
              <a:rPr lang="en-US" sz="1600" b="1" cap="all" dirty="0"/>
              <a:t>Email ID: </a:t>
            </a:r>
            <a:r>
              <a:rPr lang="en-US" sz="1600" b="1" cap="all" dirty="0">
                <a:hlinkClick r:id="rId5"/>
              </a:rPr>
              <a:t>kritgiri2006@gmail.com</a:t>
            </a:r>
            <a:endParaRPr lang="en-US" sz="1600" b="1" cap="all" dirty="0"/>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0" name="Picture 9">
            <a:extLst>
              <a:ext uri="{FF2B5EF4-FFF2-40B4-BE49-F238E27FC236}">
                <a16:creationId xmlns:a16="http://schemas.microsoft.com/office/drawing/2014/main" id="{EE7F8B7A-5BA1-F5A7-5CD2-6E3A94E66D1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93199" y="1121924"/>
            <a:ext cx="4503575" cy="4503575"/>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a:t>
            </a:r>
            <a:endParaRPr lang="en-US" sz="2200" dirty="0">
              <a:latin typeface="Arial"/>
              <a:cs typeface="Arial"/>
            </a:endParaRP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a:t>
            </a:r>
            <a:endParaRPr lang="en-US" sz="2200" dirty="0">
              <a:latin typeface="Arial"/>
              <a:cs typeface="Arial"/>
            </a:endParaRPr>
          </a:p>
          <a:p>
            <a:pPr marL="305435" indent="-305435">
              <a:spcBef>
                <a:spcPct val="20000"/>
              </a:spcBef>
              <a:spcAft>
                <a:spcPts val="600"/>
              </a:spcAft>
            </a:pPr>
            <a:r>
              <a:rPr lang="en-US" sz="2200" b="1" dirty="0">
                <a:latin typeface="Arial"/>
                <a:cs typeface="Arial"/>
              </a:rPr>
              <a:t>Algorithm &amp;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(Output Image)</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sz="2000" dirty="0"/>
              <a:t>India's rapid shift towards electric mobility has led to growing EV registrations across major urban cities. However, city planners and policymakers lack a centralized, data-driven view of EV adoption trends, charging infrastructure utilization, and environmental impact across different regions and vehicle categories. Without clear visibility into these metrics, it becomes difficult to allocate resources efficiently and formulate effective EV promotion policies. This project develops an interactive Power BI dashboard analyzing EV data across 10 major Indian cities from 2015 to 2025 to enable informed, data-driven decisions.</a:t>
            </a:r>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304306"/>
            <a:ext cx="10515600" cy="4251960"/>
          </a:xfrm>
        </p:spPr>
        <p:txBody>
          <a:bodyPr vert="horz" lIns="91440" tIns="45720" rIns="91440" bIns="45720" rtlCol="0" anchor="t">
            <a:noAutofit/>
          </a:bodyPr>
          <a:lstStyle/>
          <a:p>
            <a:pPr marL="305435" indent="-305435">
              <a:spcBef>
                <a:spcPct val="20000"/>
              </a:spcBef>
              <a:spcAft>
                <a:spcPts val="600"/>
              </a:spcAft>
              <a:buFont typeface="Arial"/>
              <a:buChar char="•"/>
            </a:pPr>
            <a:r>
              <a:rPr lang="en-US" sz="1200" b="1" dirty="0"/>
              <a:t>The proposed system aims to address the lack of centralized visibility into India's EV adoption by developing an interactive Power BI dashboard analyzing data across 10 major cities from 2015 to 2025. The solution consists of the following components:</a:t>
            </a:r>
            <a:endParaRPr lang="en-IN" sz="1200" b="1" dirty="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Data Collection:</a:t>
            </a:r>
            <a:endParaRPr lang="en-IN" sz="1200" dirty="0">
              <a:latin typeface="Calibri"/>
              <a:ea typeface="Calibri"/>
              <a:cs typeface="Calibri"/>
            </a:endParaRPr>
          </a:p>
          <a:p>
            <a:pPr marL="629920" lvl="1" indent="-305435">
              <a:spcBef>
                <a:spcPct val="20000"/>
              </a:spcBef>
              <a:spcAft>
                <a:spcPts val="600"/>
              </a:spcAft>
              <a:buFont typeface="Arial"/>
              <a:buChar char="•"/>
            </a:pPr>
            <a:r>
              <a:rPr lang="en-US" sz="1200" b="1" dirty="0"/>
              <a:t>Gathered synthetic EV dataset including registrations, charging stations, charging sessions, and CO2 reduction across 10 Indian cities.</a:t>
            </a:r>
            <a:endParaRPr lang="en-IN" sz="1200" b="1" dirty="0">
              <a:latin typeface="Calibri"/>
              <a:ea typeface="Calibri"/>
              <a:cs typeface="Calibri"/>
            </a:endParaRPr>
          </a:p>
          <a:p>
            <a:pPr marL="629920" lvl="1" indent="-305435">
              <a:spcBef>
                <a:spcPct val="20000"/>
              </a:spcBef>
              <a:spcAft>
                <a:spcPts val="600"/>
              </a:spcAft>
              <a:buFont typeface="Arial"/>
              <a:buChar char="•"/>
            </a:pPr>
            <a:r>
              <a:rPr lang="en-US" sz="1200" b="1" dirty="0"/>
              <a:t>Data covers multiple vehicle categories — Bikes, Cars, Buses, and Trucks — over a 10-year period.</a:t>
            </a:r>
            <a:endParaRPr lang="en-IN" sz="1200" b="1" dirty="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Data Preprocessing:</a:t>
            </a:r>
            <a:endParaRPr lang="en-IN" sz="1200" dirty="0">
              <a:latin typeface="Calibri"/>
              <a:ea typeface="Calibri"/>
              <a:cs typeface="Calibri"/>
            </a:endParaRPr>
          </a:p>
          <a:p>
            <a:pPr marL="629920" lvl="1" indent="-305435">
              <a:spcBef>
                <a:spcPct val="20000"/>
              </a:spcBef>
              <a:spcAft>
                <a:spcPts val="600"/>
              </a:spcAft>
              <a:buFont typeface="Arial"/>
              <a:buChar char="•"/>
            </a:pPr>
            <a:r>
              <a:rPr lang="en-US" sz="1200" b="1" dirty="0"/>
              <a:t>Cleaned and structured the dataset to ensure consistency across city, year, and vehicle type fields.</a:t>
            </a:r>
            <a:endParaRPr lang="en-IN" sz="1200" b="1" dirty="0">
              <a:latin typeface="Calibri"/>
              <a:ea typeface="Calibri"/>
              <a:cs typeface="Calibri"/>
            </a:endParaRPr>
          </a:p>
          <a:p>
            <a:pPr marL="629920" lvl="1" indent="-305435">
              <a:spcBef>
                <a:spcPct val="20000"/>
              </a:spcBef>
              <a:spcAft>
                <a:spcPts val="600"/>
              </a:spcAft>
              <a:buFont typeface="Arial"/>
              <a:buChar char="•"/>
            </a:pPr>
            <a:r>
              <a:rPr lang="en-US" sz="1200" b="1" dirty="0"/>
              <a:t>Formatted date fields and validated numeric columns for accurate aggregation</a:t>
            </a:r>
            <a:r>
              <a:rPr lang="en-US" sz="1200" dirty="0"/>
              <a:t>.</a:t>
            </a:r>
            <a:endParaRPr lang="en-IN" sz="1200" dirty="0">
              <a:latin typeface="Calibri"/>
              <a:ea typeface="Calibri"/>
              <a:cs typeface="Calibri"/>
            </a:endParaRPr>
          </a:p>
          <a:p>
            <a:pPr marL="305435" indent="-305435">
              <a:spcBef>
                <a:spcPct val="20000"/>
              </a:spcBef>
              <a:spcAft>
                <a:spcPts val="600"/>
              </a:spcAft>
              <a:buFont typeface="Arial"/>
              <a:buChar char="•"/>
            </a:pPr>
            <a:r>
              <a:rPr lang="en-US" sz="1200" b="1" dirty="0"/>
              <a:t>Dashboard Development:</a:t>
            </a:r>
            <a:endParaRPr lang="en-IN" sz="1200" b="1" dirty="0">
              <a:latin typeface="Calibri"/>
              <a:ea typeface="Calibri"/>
              <a:cs typeface="Calibri"/>
            </a:endParaRPr>
          </a:p>
          <a:p>
            <a:pPr marL="629920" lvl="1" indent="-305435">
              <a:spcBef>
                <a:spcPct val="20000"/>
              </a:spcBef>
              <a:spcAft>
                <a:spcPts val="600"/>
              </a:spcAft>
              <a:buFont typeface="Arial"/>
              <a:buChar char="•"/>
            </a:pPr>
            <a:r>
              <a:rPr lang="en-US" sz="1200" b="1" dirty="0"/>
              <a:t>Built an interactive Power BI dashboard with KPI cards, bar charts, line charts, and donut charts.</a:t>
            </a:r>
            <a:endParaRPr lang="en-IN" sz="1200" b="1" dirty="0">
              <a:latin typeface="Calibri"/>
              <a:ea typeface="Calibri"/>
              <a:cs typeface="Calibri"/>
            </a:endParaRPr>
          </a:p>
          <a:p>
            <a:pPr marL="629920" lvl="1" indent="-305435">
              <a:spcBef>
                <a:spcPct val="20000"/>
              </a:spcBef>
              <a:spcAft>
                <a:spcPts val="600"/>
              </a:spcAft>
              <a:buFont typeface="Arial"/>
              <a:buChar char="•"/>
            </a:pPr>
            <a:r>
              <a:rPr lang="en-US" sz="1200" b="1" dirty="0"/>
              <a:t>Implemented a date slicer to enable dynamic filtering across the full 2015–2025 timeline.</a:t>
            </a:r>
            <a:endParaRPr lang="en-IN" sz="1200" b="1" dirty="0">
              <a:latin typeface="Calibri"/>
              <a:ea typeface="Calibri"/>
              <a:cs typeface="Calibri"/>
            </a:endParaRPr>
          </a:p>
          <a:p>
            <a:pPr marL="305435" indent="-305435">
              <a:spcBef>
                <a:spcPct val="20000"/>
              </a:spcBef>
              <a:spcAft>
                <a:spcPts val="600"/>
              </a:spcAft>
              <a:buFont typeface="Arial"/>
              <a:buChar char="•"/>
            </a:pPr>
            <a:r>
              <a:rPr lang="en-US" sz="1200" b="1" dirty="0"/>
              <a:t>Key Metrics Visualized:</a:t>
            </a:r>
            <a:endParaRPr lang="en-IN" sz="1200" b="1" dirty="0">
              <a:latin typeface="Calibri"/>
              <a:ea typeface="Calibri"/>
              <a:cs typeface="Calibri"/>
            </a:endParaRPr>
          </a:p>
          <a:p>
            <a:pPr marL="629920" lvl="1" indent="-305435">
              <a:spcBef>
                <a:spcPct val="20000"/>
              </a:spcBef>
              <a:spcAft>
                <a:spcPts val="600"/>
              </a:spcAft>
              <a:buFont typeface="Arial"/>
              <a:buChar char="•"/>
            </a:pPr>
            <a:r>
              <a:rPr lang="en-US" sz="1200" b="1" dirty="0"/>
              <a:t>Total EV Registrations (7M), Charging Stations (33K), CO2 Reduction (8.50M Tonnes), and Charging Sessions (88M).</a:t>
            </a:r>
            <a:endParaRPr lang="en-IN" sz="1200" b="1" dirty="0">
              <a:latin typeface="Calibri"/>
              <a:ea typeface="Calibri"/>
              <a:cs typeface="Calibri"/>
            </a:endParaRPr>
          </a:p>
          <a:p>
            <a:pPr marL="629920" lvl="1" indent="-305435">
              <a:spcBef>
                <a:spcPct val="20000"/>
              </a:spcBef>
              <a:spcAft>
                <a:spcPts val="600"/>
              </a:spcAft>
              <a:buFont typeface="Arial"/>
              <a:buChar char="•"/>
            </a:pPr>
            <a:r>
              <a:rPr lang="en-US" sz="1200" b="1" dirty="0"/>
              <a:t>EV registrations broken down by city, year, and vehicle type.</a:t>
            </a:r>
            <a:endParaRPr lang="en-IN" sz="1200" b="1" dirty="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Evaluation:</a:t>
            </a:r>
            <a:endParaRPr lang="en-IN" sz="1200" dirty="0">
              <a:latin typeface="Calibri"/>
              <a:ea typeface="Calibri"/>
              <a:cs typeface="Calibri"/>
            </a:endParaRPr>
          </a:p>
          <a:p>
            <a:pPr marL="629920" lvl="1" indent="-305435">
              <a:spcBef>
                <a:spcPct val="20000"/>
              </a:spcBef>
              <a:spcAft>
                <a:spcPts val="600"/>
              </a:spcAft>
              <a:buFont typeface="Arial"/>
              <a:buChar char="•"/>
            </a:pPr>
            <a:r>
              <a:rPr lang="en-US" sz="1200" b="1" dirty="0"/>
              <a:t>Verified dashboard accuracy by cross-checking KPI totals against city and vehicle type breakdowns.</a:t>
            </a:r>
            <a:endParaRPr lang="en-IN" sz="1200" b="1" dirty="0">
              <a:latin typeface="Calibri"/>
              <a:ea typeface="Calibri"/>
              <a:cs typeface="Calibri"/>
            </a:endParaRPr>
          </a:p>
          <a:p>
            <a:pPr marL="629920" lvl="1" indent="-305435">
              <a:spcBef>
                <a:spcPct val="20000"/>
              </a:spcBef>
              <a:spcAft>
                <a:spcPts val="600"/>
              </a:spcAft>
              <a:buFont typeface="Arial"/>
              <a:buChar char="•"/>
            </a:pPr>
            <a:r>
              <a:rPr lang="en-US" sz="1200" b="1" dirty="0"/>
              <a:t>Validated that all visuals reflect consistent values and the date slicer filters all charts correctly.</a:t>
            </a:r>
            <a:endParaRPr lang="en-IN" sz="1200" b="1" dirty="0">
              <a:latin typeface="Calibri"/>
              <a:ea typeface="Calibri"/>
              <a:cs typeface="Calibri"/>
            </a:endParaRPr>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454329"/>
            <a:ext cx="10515600" cy="4251960"/>
          </a:xfrm>
        </p:spPr>
        <p:txBody>
          <a:bodyPr vert="horz" lIns="91440" tIns="45720" rIns="91440" bIns="45720" rtlCol="0">
            <a:normAutofit fontScale="62500" lnSpcReduction="20000"/>
          </a:bodyPr>
          <a:lstStyle/>
          <a:p>
            <a:pPr marL="0" indent="0">
              <a:lnSpc>
                <a:spcPct val="120000"/>
              </a:lnSpc>
              <a:buNone/>
            </a:pPr>
            <a:r>
              <a:rPr lang="en-US" sz="2600" dirty="0"/>
              <a:t>The System Approach outlines the overall strategy and methodology for developing and implementing the EV Demand &amp; Impact Analysis dashboard using Microsoft Power BI.</a:t>
            </a:r>
          </a:p>
          <a:p>
            <a:r>
              <a:rPr lang="en-US" b="1" dirty="0"/>
              <a:t>System Requirements:</a:t>
            </a:r>
            <a:r>
              <a:rPr lang="en-US" dirty="0"/>
              <a:t> </a:t>
            </a:r>
          </a:p>
          <a:p>
            <a:pPr lvl="1"/>
            <a:r>
              <a:rPr lang="en-US" dirty="0"/>
              <a:t>Microsoft Power BI Desktop</a:t>
            </a:r>
          </a:p>
          <a:p>
            <a:pPr lvl="1"/>
            <a:r>
              <a:rPr lang="en-US" dirty="0"/>
              <a:t>Microsoft Excel (for dataset preparation)</a:t>
            </a:r>
          </a:p>
          <a:p>
            <a:pPr lvl="1"/>
            <a:r>
              <a:rPr lang="en-US" dirty="0"/>
              <a:t>Windows 10 or above</a:t>
            </a:r>
          </a:p>
          <a:p>
            <a:r>
              <a:rPr lang="en-US" b="1" dirty="0"/>
              <a:t>Tools &amp; Technologies Used:</a:t>
            </a:r>
            <a:r>
              <a:rPr lang="en-US" dirty="0"/>
              <a:t> </a:t>
            </a:r>
          </a:p>
          <a:p>
            <a:pPr lvl="1"/>
            <a:r>
              <a:rPr lang="en-US" dirty="0"/>
              <a:t>Power BI Desktop — for dashboard creation and data visualization</a:t>
            </a:r>
          </a:p>
          <a:p>
            <a:pPr lvl="1"/>
            <a:r>
              <a:rPr lang="en-US" dirty="0"/>
              <a:t>Excel/CSV — for storing and managing the EV dataset</a:t>
            </a:r>
          </a:p>
          <a:p>
            <a:pPr lvl="1"/>
            <a:r>
              <a:rPr lang="en-US" dirty="0"/>
              <a:t>DAX (Data Analysis Expressions) — for creating calculated measures and KPI values</a:t>
            </a:r>
          </a:p>
          <a:p>
            <a:pPr lvl="1"/>
            <a:r>
              <a:rPr lang="en-US" dirty="0"/>
              <a:t>Power Query — for data cleaning and transformation</a:t>
            </a:r>
          </a:p>
          <a:p>
            <a:r>
              <a:rPr lang="en-US" b="1" dirty="0"/>
              <a:t>Dataset Details:</a:t>
            </a:r>
            <a:r>
              <a:rPr lang="en-US" dirty="0"/>
              <a:t> </a:t>
            </a:r>
          </a:p>
          <a:p>
            <a:pPr lvl="1"/>
            <a:r>
              <a:rPr lang="en-US" dirty="0"/>
              <a:t>10 Indian cities: Bengaluru, Delhi, Mumbai, Hyderabad, Chennai, Pune, Kolkata, Ahmedabad, Kochi, Jaipur</a:t>
            </a:r>
          </a:p>
          <a:p>
            <a:pPr lvl="1"/>
            <a:r>
              <a:rPr lang="en-US" dirty="0"/>
              <a:t>Time period: 2015–2025</a:t>
            </a:r>
          </a:p>
          <a:p>
            <a:pPr lvl="1"/>
            <a:r>
              <a:rPr lang="en-US" dirty="0"/>
              <a:t>Vehicle types: Bike, Car, Bus, Truck</a:t>
            </a:r>
          </a:p>
          <a:p>
            <a:pPr lvl="1"/>
            <a:r>
              <a:rPr lang="en-US" dirty="0"/>
              <a:t>Key fields: City, Year, Vehicle Type, EV Registrations, Charging Stations, Charging Sessions, CO2 Reduction</a:t>
            </a:r>
          </a:p>
          <a:p>
            <a:pPr marL="0" indent="0">
              <a:spcBef>
                <a:spcPct val="20000"/>
              </a:spcBef>
              <a:spcAft>
                <a:spcPts val="600"/>
              </a:spcAft>
              <a:buNone/>
            </a:pPr>
            <a:endParaRPr lang="en-GB" sz="2200" dirty="0"/>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700" y="1464906"/>
            <a:ext cx="10515600" cy="4359250"/>
          </a:xfrm>
        </p:spPr>
        <p:txBody>
          <a:bodyPr vert="horz" lIns="91440" tIns="45720" rIns="91440" bIns="45720" rtlCol="0">
            <a:normAutofit fontScale="85000" lnSpcReduction="20000"/>
          </a:bodyPr>
          <a:lstStyle/>
          <a:p>
            <a:pPr marL="305435" indent="-305435">
              <a:lnSpc>
                <a:spcPct val="120000"/>
              </a:lnSpc>
              <a:spcBef>
                <a:spcPts val="500"/>
              </a:spcBef>
              <a:spcAft>
                <a:spcPts val="600"/>
              </a:spcAft>
              <a:buFont typeface="Arial"/>
              <a:buChar char="•"/>
            </a:pPr>
            <a:r>
              <a:rPr lang="en-US" sz="1500" dirty="0">
                <a:latin typeface="Franklin Gothic Book" panose="020B0503020102020204" pitchFamily="34" charset="0"/>
              </a:rPr>
              <a:t>The following outlines the data processing approach and deployment methodology used to develop the EV Demand &amp; Impact Analysis dashboard.</a:t>
            </a:r>
            <a:endParaRPr lang="en-IN" sz="1500" dirty="0">
              <a:latin typeface="Franklin Gothic Book" panose="020B0503020102020204" pitchFamily="34" charset="0"/>
            </a:endParaRPr>
          </a:p>
          <a:p>
            <a:pPr marL="305435" indent="-305435">
              <a:lnSpc>
                <a:spcPct val="120000"/>
              </a:lnSpc>
              <a:spcBef>
                <a:spcPts val="500"/>
              </a:spcBef>
              <a:spcAft>
                <a:spcPts val="600"/>
              </a:spcAft>
              <a:buFont typeface="Arial"/>
              <a:buChar char="•"/>
            </a:pPr>
            <a:r>
              <a:rPr lang="en-IN" sz="1500" b="1" dirty="0">
                <a:latin typeface="Franklin Gothic Book"/>
              </a:rPr>
              <a:t>Algorithm Selection:</a:t>
            </a:r>
            <a:endParaRPr lang="en-IN" sz="1500" dirty="0">
              <a:latin typeface="Franklin Gothic Book"/>
            </a:endParaRPr>
          </a:p>
          <a:p>
            <a:pPr marL="629920" lvl="1" indent="-305435">
              <a:lnSpc>
                <a:spcPct val="120000"/>
              </a:lnSpc>
              <a:spcAft>
                <a:spcPts val="600"/>
              </a:spcAft>
              <a:buFont typeface="Arial"/>
              <a:buChar char="•"/>
            </a:pPr>
            <a:r>
              <a:rPr lang="en-US" sz="1500" dirty="0">
                <a:latin typeface="Franklin Gothic Book" panose="020B0503020102020204" pitchFamily="34" charset="0"/>
              </a:rPr>
              <a:t>Power BI's built-in DAX (Data Analysis Expressions) engine was used for data aggregation and KPI calculations instead of a traditional ML algorithm.</a:t>
            </a:r>
          </a:p>
          <a:p>
            <a:pPr marL="629920" lvl="1" indent="-305435">
              <a:lnSpc>
                <a:spcPct val="120000"/>
              </a:lnSpc>
              <a:spcAft>
                <a:spcPts val="600"/>
              </a:spcAft>
              <a:buFont typeface="Arial"/>
              <a:buChar char="•"/>
            </a:pPr>
            <a:r>
              <a:rPr lang="en-US" sz="1500" dirty="0">
                <a:latin typeface="Franklin Gothic Book" panose="020B0503020102020204" pitchFamily="34" charset="0"/>
              </a:rPr>
              <a:t>DAX measures were created to calculate Total EV Registrations, Total CO2 Reduction, Total Charging Stations, and Total Charging Sessions dynamically.</a:t>
            </a:r>
            <a:endParaRPr lang="en-IN" sz="1500" dirty="0">
              <a:latin typeface="Franklin Gothic Book" panose="020B0503020102020204" pitchFamily="34" charset="0"/>
            </a:endParaRPr>
          </a:p>
          <a:p>
            <a:pPr marL="305435" indent="-305435">
              <a:spcBef>
                <a:spcPct val="20000"/>
              </a:spcBef>
              <a:spcAft>
                <a:spcPts val="600"/>
              </a:spcAft>
              <a:buFont typeface="Arial"/>
              <a:buChar char="•"/>
            </a:pPr>
            <a:r>
              <a:rPr lang="en-IN" sz="1500" b="1" dirty="0">
                <a:latin typeface="Franklin Gothic Book"/>
              </a:rPr>
              <a:t>Data Input:</a:t>
            </a:r>
            <a:endParaRPr lang="en-IN" sz="1500" dirty="0">
              <a:latin typeface="Franklin Gothic Book"/>
            </a:endParaRPr>
          </a:p>
          <a:p>
            <a:pPr marL="629920" lvl="1" indent="-305435">
              <a:spcBef>
                <a:spcPct val="20000"/>
              </a:spcBef>
              <a:spcAft>
                <a:spcPts val="600"/>
              </a:spcAft>
              <a:buFont typeface="Arial"/>
              <a:buChar char="•"/>
            </a:pPr>
            <a:r>
              <a:rPr lang="en-US" sz="1500" dirty="0">
                <a:latin typeface="Franklin Gothic Book" panose="020B0503020102020204" pitchFamily="34" charset="0"/>
              </a:rPr>
              <a:t>Input dataset contains fields: City, Year, Vehicle Type, EV Registrations, Charging Stations, Charging Sessions, and CO2 Reduction (Tonnes).</a:t>
            </a:r>
          </a:p>
          <a:p>
            <a:pPr marL="629920" lvl="1" indent="-305435">
              <a:spcBef>
                <a:spcPct val="20000"/>
              </a:spcBef>
              <a:spcAft>
                <a:spcPts val="600"/>
              </a:spcAft>
              <a:buFont typeface="Arial"/>
              <a:buChar char="•"/>
            </a:pPr>
            <a:r>
              <a:rPr lang="en-US" sz="1600" dirty="0">
                <a:latin typeface="Franklin Gothic Book" panose="020B0503020102020204" pitchFamily="34" charset="0"/>
              </a:rPr>
              <a:t>Data covers 10 Indian cities across 2015–2025.</a:t>
            </a:r>
            <a:endParaRPr lang="en-IN" sz="1600" dirty="0">
              <a:latin typeface="Franklin Gothic Book" panose="020B0503020102020204" pitchFamily="34" charset="0"/>
            </a:endParaRPr>
          </a:p>
          <a:p>
            <a:pPr marL="305435" indent="-305435">
              <a:spcBef>
                <a:spcPct val="20000"/>
              </a:spcBef>
              <a:spcAft>
                <a:spcPts val="600"/>
              </a:spcAft>
              <a:buFont typeface="Arial"/>
              <a:buChar char="•"/>
            </a:pPr>
            <a:r>
              <a:rPr lang="en-US" sz="1600" b="1" dirty="0">
                <a:latin typeface="Franklin Gothic Book" panose="020B0503020102020204" pitchFamily="34" charset="0"/>
              </a:rPr>
              <a:t>Processing Approach:</a:t>
            </a:r>
            <a:endParaRPr lang="en-IN" sz="1500" b="1" dirty="0">
              <a:latin typeface="Franklin Gothic Book" panose="020B0503020102020204" pitchFamily="34" charset="0"/>
            </a:endParaRPr>
          </a:p>
          <a:p>
            <a:pPr marL="629920" lvl="1" indent="-305435">
              <a:spcBef>
                <a:spcPct val="20000"/>
              </a:spcBef>
              <a:spcAft>
                <a:spcPts val="600"/>
              </a:spcAft>
              <a:buFont typeface="Arial"/>
              <a:buChar char="•"/>
            </a:pPr>
            <a:r>
              <a:rPr lang="en-US" sz="1600" dirty="0">
                <a:latin typeface="Franklin Gothic Book" panose="020B0503020102020204" pitchFamily="34" charset="0"/>
              </a:rPr>
              <a:t>Data was cleaned and transformed using Power Query in Power BI.</a:t>
            </a:r>
          </a:p>
          <a:p>
            <a:pPr marL="629920" lvl="1" indent="-305435">
              <a:spcBef>
                <a:spcPct val="20000"/>
              </a:spcBef>
              <a:spcAft>
                <a:spcPts val="600"/>
              </a:spcAft>
              <a:buFont typeface="Arial"/>
              <a:buChar char="•"/>
            </a:pPr>
            <a:r>
              <a:rPr lang="en-US" sz="1600" dirty="0">
                <a:latin typeface="Franklin Gothic Book" panose="020B0503020102020204" pitchFamily="34" charset="0"/>
              </a:rPr>
              <a:t>Relationships were established between tables to enable cross-filtering across all visuals.</a:t>
            </a:r>
            <a:endParaRPr lang="en-IN" sz="1600" dirty="0">
              <a:latin typeface="Franklin Gothic Book" panose="020B0503020102020204" pitchFamily="34" charset="0"/>
            </a:endParaRPr>
          </a:p>
          <a:p>
            <a:pPr marL="305435" indent="-305435">
              <a:spcBef>
                <a:spcPct val="20000"/>
              </a:spcBef>
              <a:spcAft>
                <a:spcPts val="600"/>
              </a:spcAft>
              <a:buFont typeface="Arial"/>
              <a:buChar char="•"/>
            </a:pPr>
            <a:r>
              <a:rPr lang="en-IN" sz="1500" b="1" dirty="0">
                <a:latin typeface="Franklin Gothic Book"/>
              </a:rPr>
              <a:t>Deployment:</a:t>
            </a:r>
            <a:endParaRPr lang="en-IN" sz="1500" dirty="0">
              <a:latin typeface="Franklin Gothic Book"/>
            </a:endParaRPr>
          </a:p>
          <a:p>
            <a:pPr marL="629920" lvl="1" indent="-305435">
              <a:spcBef>
                <a:spcPct val="20000"/>
              </a:spcBef>
              <a:spcAft>
                <a:spcPts val="600"/>
              </a:spcAft>
              <a:buFont typeface="Arial"/>
              <a:buChar char="•"/>
            </a:pPr>
            <a:r>
              <a:rPr lang="en-US" sz="1600" dirty="0">
                <a:latin typeface="Franklin Gothic Book" panose="020B0503020102020204" pitchFamily="34" charset="0"/>
              </a:rPr>
              <a:t>Dashboard was developed and published using Microsoft Power BI Desktop.</a:t>
            </a:r>
          </a:p>
          <a:p>
            <a:pPr marL="629920" lvl="1" indent="-305435">
              <a:spcBef>
                <a:spcPct val="20000"/>
              </a:spcBef>
              <a:spcAft>
                <a:spcPts val="600"/>
              </a:spcAft>
              <a:buFont typeface="Arial"/>
              <a:buChar char="•"/>
            </a:pPr>
            <a:r>
              <a:rPr lang="en-US" sz="1600" dirty="0">
                <a:latin typeface="Franklin Gothic Book" panose="020B0503020102020204" pitchFamily="34" charset="0"/>
              </a:rPr>
              <a:t>Interactive slicers allow stakeholders to filter data dynamically by date range across all visuals simultaneously.</a:t>
            </a:r>
            <a:endParaRPr lang="en-GB" sz="1500" dirty="0">
              <a:latin typeface="Franklin Gothic Book" panose="020B0503020102020204" pitchFamily="34" charset="0"/>
            </a:endParaRPr>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Result:</a:t>
            </a:r>
            <a:endParaRPr lang="en-US" sz="4000" dirty="0"/>
          </a:p>
        </p:txBody>
      </p:sp>
      <p:pic>
        <p:nvPicPr>
          <p:cNvPr id="13" name="Picture 12">
            <a:extLst>
              <a:ext uri="{FF2B5EF4-FFF2-40B4-BE49-F238E27FC236}">
                <a16:creationId xmlns:a16="http://schemas.microsoft.com/office/drawing/2014/main" id="{B9A3ED82-739B-7C2F-D9AF-37350A216B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7074" y="1066931"/>
            <a:ext cx="9271616" cy="5383764"/>
          </a:xfrm>
          <a:prstGeom prst="rect">
            <a:avLst/>
          </a:prstGeom>
        </p:spPr>
      </p:pic>
      <p:sp>
        <p:nvSpPr>
          <p:cNvPr id="14" name="TextBox 13">
            <a:extLst>
              <a:ext uri="{FF2B5EF4-FFF2-40B4-BE49-F238E27FC236}">
                <a16:creationId xmlns:a16="http://schemas.microsoft.com/office/drawing/2014/main" id="{B40BBC3A-4309-839F-84DD-EFD28A78168C}"/>
              </a:ext>
            </a:extLst>
          </p:cNvPr>
          <p:cNvSpPr txBox="1"/>
          <p:nvPr/>
        </p:nvSpPr>
        <p:spPr>
          <a:xfrm>
            <a:off x="0" y="1355591"/>
            <a:ext cx="2613762" cy="4806444"/>
          </a:xfrm>
          <a:prstGeom prst="rect">
            <a:avLst/>
          </a:prstGeom>
          <a:noFill/>
        </p:spPr>
        <p:txBody>
          <a:bodyPr wrap="square" rtlCol="0">
            <a:spAutoFit/>
          </a:bodyPr>
          <a:lstStyle/>
          <a:p>
            <a:pPr>
              <a:spcBef>
                <a:spcPts val="800"/>
              </a:spcBef>
            </a:pPr>
            <a:r>
              <a:rPr lang="en-US" sz="1300" b="1" dirty="0"/>
              <a:t>Key Insights:</a:t>
            </a:r>
          </a:p>
          <a:p>
            <a:pPr marL="285750" indent="-285750">
              <a:spcBef>
                <a:spcPts val="800"/>
              </a:spcBef>
              <a:buFont typeface="Arial" panose="020B0604020202020204" pitchFamily="34" charset="0"/>
              <a:buChar char="•"/>
            </a:pPr>
            <a:r>
              <a:rPr lang="en-US" sz="1300" dirty="0"/>
              <a:t>EV adoption has increased significantly from 2015 to 2025, showing strong growth in electric mobility.</a:t>
            </a:r>
          </a:p>
          <a:p>
            <a:pPr marL="285750" indent="-285750">
              <a:spcBef>
                <a:spcPts val="800"/>
              </a:spcBef>
              <a:buFont typeface="Arial" panose="020B0604020202020204" pitchFamily="34" charset="0"/>
              <a:buChar char="•"/>
            </a:pPr>
            <a:r>
              <a:rPr lang="en-US" sz="1300" dirty="0"/>
              <a:t>Bengaluru, Delhi, and Mumbai lead EV registrations among major cities.</a:t>
            </a:r>
          </a:p>
          <a:p>
            <a:pPr marL="285750" indent="-285750">
              <a:spcBef>
                <a:spcPts val="800"/>
              </a:spcBef>
              <a:buFont typeface="Arial" panose="020B0604020202020204" pitchFamily="34" charset="0"/>
              <a:buChar char="•"/>
            </a:pPr>
            <a:r>
              <a:rPr lang="en-US" sz="1300" dirty="0"/>
              <a:t>Two-wheelers (bikes) account for the majority of EV registrations in India.</a:t>
            </a:r>
          </a:p>
          <a:p>
            <a:pPr marL="285750" indent="-285750">
              <a:spcBef>
                <a:spcPts val="800"/>
              </a:spcBef>
              <a:buFont typeface="Arial" panose="020B0604020202020204" pitchFamily="34" charset="0"/>
              <a:buChar char="•"/>
            </a:pPr>
            <a:r>
              <a:rPr lang="en-US" sz="1300" dirty="0"/>
              <a:t>A noticeable drop in EV registrations occurred in 2020 due to the COVID-19 lockdown.</a:t>
            </a:r>
          </a:p>
          <a:p>
            <a:pPr marL="285750" indent="-285750">
              <a:spcBef>
                <a:spcPts val="800"/>
              </a:spcBef>
              <a:buFont typeface="Arial" panose="020B0604020202020204" pitchFamily="34" charset="0"/>
              <a:buChar char="•"/>
            </a:pPr>
            <a:r>
              <a:rPr lang="en-US" sz="1300" dirty="0"/>
              <a:t>Growth in charging stations and charging sessions indicates improving EV infrastructure and usage.</a:t>
            </a:r>
          </a:p>
          <a:p>
            <a:endParaRPr lang="en-US" sz="1300" dirty="0"/>
          </a:p>
          <a:p>
            <a:endParaRPr lang="en-US" sz="1300" dirty="0"/>
          </a:p>
        </p:txBody>
      </p:sp>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pPr marL="0" indent="0">
              <a:buNone/>
            </a:pPr>
            <a:r>
              <a:rPr lang="en-US" sz="1500" dirty="0">
                <a:latin typeface="Franklin Gothic Book" panose="020B0503020102020204" pitchFamily="34" charset="0"/>
              </a:rPr>
              <a:t>The EV Demand &amp; Impact Analysis dashboard successfully provides a centralized, data-driven view of electric vehicle adoption across 10 major Indian cities from 2015 to 2025.</a:t>
            </a:r>
          </a:p>
          <a:p>
            <a:r>
              <a:rPr lang="en-US" sz="1500" dirty="0">
                <a:latin typeface="Franklin Gothic Book" panose="020B0503020102020204" pitchFamily="34" charset="0"/>
              </a:rPr>
              <a:t>The analysis reveals that </a:t>
            </a:r>
            <a:r>
              <a:rPr lang="en-US" sz="1500" b="1" dirty="0">
                <a:latin typeface="Franklin Gothic Book" panose="020B0503020102020204" pitchFamily="34" charset="0"/>
              </a:rPr>
              <a:t>Bengaluru, Delhi, and Mumbai</a:t>
            </a:r>
            <a:r>
              <a:rPr lang="en-US" sz="1500" dirty="0">
                <a:latin typeface="Franklin Gothic Book" panose="020B0503020102020204" pitchFamily="34" charset="0"/>
              </a:rPr>
              <a:t> lead in EV registrations, reflecting stronger EV infrastructure and policy support in these cities.</a:t>
            </a:r>
          </a:p>
          <a:p>
            <a:r>
              <a:rPr lang="en-US" sz="1500" b="1" dirty="0">
                <a:latin typeface="Franklin Gothic Book" panose="020B0503020102020204" pitchFamily="34" charset="0"/>
              </a:rPr>
              <a:t>Bikes dominate</a:t>
            </a:r>
            <a:r>
              <a:rPr lang="en-US" sz="1500" dirty="0">
                <a:latin typeface="Franklin Gothic Book" panose="020B0503020102020204" pitchFamily="34" charset="0"/>
              </a:rPr>
              <a:t> the EV market at 67%, consistent with India's two-wheeler culture and affordability factor.</a:t>
            </a:r>
          </a:p>
          <a:p>
            <a:r>
              <a:rPr lang="en-US" sz="1500" dirty="0">
                <a:latin typeface="Franklin Gothic Book" panose="020B0503020102020204" pitchFamily="34" charset="0"/>
              </a:rPr>
              <a:t>EV registrations show a </a:t>
            </a:r>
            <a:r>
              <a:rPr lang="en-US" sz="1500" b="1" dirty="0">
                <a:latin typeface="Franklin Gothic Book" panose="020B0503020102020204" pitchFamily="34" charset="0"/>
              </a:rPr>
              <a:t>steady growth trend</a:t>
            </a:r>
            <a:r>
              <a:rPr lang="en-US" sz="1500" dirty="0">
                <a:latin typeface="Franklin Gothic Book" panose="020B0503020102020204" pitchFamily="34" charset="0"/>
              </a:rPr>
              <a:t> from 2015 to 2025, with a minor dip around 2020 likely due to the COVID-19 pandemic impact on vehicle sales.</a:t>
            </a:r>
          </a:p>
          <a:p>
            <a:r>
              <a:rPr lang="en-US" sz="1500" dirty="0">
                <a:latin typeface="Franklin Gothic Book" panose="020B0503020102020204" pitchFamily="34" charset="0"/>
              </a:rPr>
              <a:t>A total </a:t>
            </a:r>
            <a:r>
              <a:rPr lang="en-US" sz="1500" b="1" dirty="0">
                <a:latin typeface="Franklin Gothic Book" panose="020B0503020102020204" pitchFamily="34" charset="0"/>
              </a:rPr>
              <a:t>CO2 reduction of 8.50M Tonnes</a:t>
            </a:r>
            <a:r>
              <a:rPr lang="en-US" sz="1500" dirty="0">
                <a:latin typeface="Franklin Gothic Book" panose="020B0503020102020204" pitchFamily="34" charset="0"/>
              </a:rPr>
              <a:t> highlights the significant environmental benefit of EV adoption across these cities.</a:t>
            </a:r>
          </a:p>
          <a:p>
            <a:r>
              <a:rPr lang="en-US" sz="1500" dirty="0">
                <a:latin typeface="Franklin Gothic Book" panose="020B0503020102020204" pitchFamily="34" charset="0"/>
              </a:rPr>
              <a:t>The interactive date slicer enables dynamic analysis, making the dashboard a practical tool for </a:t>
            </a:r>
            <a:r>
              <a:rPr lang="en-US" sz="1500" b="1" dirty="0">
                <a:latin typeface="Franklin Gothic Book" panose="020B0503020102020204" pitchFamily="34" charset="0"/>
              </a:rPr>
              <a:t>policymakers and urban planners</a:t>
            </a:r>
            <a:r>
              <a:rPr lang="en-US" sz="1500" dirty="0">
                <a:latin typeface="Franklin Gothic Book" panose="020B0503020102020204" pitchFamily="34" charset="0"/>
              </a:rPr>
              <a:t>.</a:t>
            </a:r>
          </a:p>
          <a:p>
            <a:r>
              <a:rPr lang="en-US" sz="1500" dirty="0">
                <a:latin typeface="Franklin Gothic Book" panose="020B0503020102020204" pitchFamily="34" charset="0"/>
              </a:rPr>
              <a:t>Overall, the project demonstrates how </a:t>
            </a:r>
            <a:r>
              <a:rPr lang="en-US" sz="1500" b="1" dirty="0">
                <a:latin typeface="Franklin Gothic Book" panose="020B0503020102020204" pitchFamily="34" charset="0"/>
              </a:rPr>
              <a:t>data visualization using Power BI</a:t>
            </a:r>
            <a:r>
              <a:rPr lang="en-US" sz="1500" dirty="0">
                <a:latin typeface="Franklin Gothic Book" panose="020B0503020102020204" pitchFamily="34" charset="0"/>
              </a:rPr>
              <a:t> can transform raw data into actionable insights for India's clean energy transition.</a:t>
            </a:r>
          </a:p>
          <a:p>
            <a:pPr marL="0" indent="0">
              <a:buNone/>
            </a:pPr>
            <a:endParaRPr lang="en-US" sz="1500" dirty="0">
              <a:latin typeface="Franklin Gothic Book" panose="020B0503020102020204" pitchFamily="34" charset="0"/>
            </a:endParaRPr>
          </a:p>
        </p:txBody>
      </p:sp>
    </p:spTree>
    <p:extLst>
      <p:ext uri="{BB962C8B-B14F-4D97-AF65-F5344CB8AC3E}">
        <p14:creationId xmlns:p14="http://schemas.microsoft.com/office/powerpoint/2010/main" val="2245309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0515600" cy="4251960"/>
          </a:xfrm>
        </p:spPr>
        <p:txBody>
          <a:bodyPr vert="horz" lIns="91440" tIns="45720" rIns="91440" bIns="45720" rtlCol="0">
            <a:noAutofit/>
          </a:bodyPr>
          <a:lstStyle/>
          <a:p>
            <a:pPr marL="0" indent="0">
              <a:spcBef>
                <a:spcPts val="500"/>
              </a:spcBef>
              <a:buNone/>
            </a:pPr>
            <a:r>
              <a:rPr lang="en-US" sz="1500" dirty="0"/>
              <a:t>The current dashboard provides a strong foundation for EV analysis, and can be further enhanced in the following ways:</a:t>
            </a:r>
          </a:p>
          <a:p>
            <a:pPr>
              <a:spcBef>
                <a:spcPts val="500"/>
              </a:spcBef>
            </a:pPr>
            <a:r>
              <a:rPr lang="en-US" sz="1500" b="1" dirty="0"/>
              <a:t>Real-Time Data Integration:</a:t>
            </a:r>
            <a:r>
              <a:rPr lang="en-US" sz="1500" dirty="0"/>
              <a:t> </a:t>
            </a:r>
          </a:p>
          <a:p>
            <a:pPr lvl="1"/>
            <a:r>
              <a:rPr lang="en-US" sz="1500" dirty="0"/>
              <a:t>Connect the dashboard to live government EV registration APIs to display real-time adoption data instead of static historical data.</a:t>
            </a:r>
          </a:p>
          <a:p>
            <a:pPr>
              <a:spcBef>
                <a:spcPts val="500"/>
              </a:spcBef>
            </a:pPr>
            <a:r>
              <a:rPr lang="en-US" sz="1500" b="1" dirty="0"/>
              <a:t>Predictive Analytics:</a:t>
            </a:r>
            <a:r>
              <a:rPr lang="en-US" sz="1500" dirty="0"/>
              <a:t> </a:t>
            </a:r>
          </a:p>
          <a:p>
            <a:pPr lvl="1"/>
            <a:r>
              <a:rPr lang="en-US" sz="1500" dirty="0"/>
              <a:t>Incorporate machine learning models to forecast future EV demand, charging station requirements, and CO2 reduction targets for upcoming years.</a:t>
            </a:r>
          </a:p>
          <a:p>
            <a:pPr>
              <a:spcBef>
                <a:spcPts val="500"/>
              </a:spcBef>
            </a:pPr>
            <a:r>
              <a:rPr lang="en-US" sz="1500" b="1" dirty="0"/>
              <a:t>Geographic Expansion:</a:t>
            </a:r>
            <a:r>
              <a:rPr lang="en-US" sz="1500" dirty="0"/>
              <a:t> </a:t>
            </a:r>
          </a:p>
          <a:p>
            <a:pPr lvl="1"/>
            <a:r>
              <a:rPr lang="en-US" sz="1500" dirty="0"/>
              <a:t>Extend the analysis beyond 10 cities to cover all Indian states and tier-2/tier-3 cities to get a more comprehensive national picture.</a:t>
            </a:r>
          </a:p>
          <a:p>
            <a:pPr>
              <a:spcBef>
                <a:spcPts val="500"/>
              </a:spcBef>
            </a:pPr>
            <a:r>
              <a:rPr lang="en-US" sz="1500" b="1" dirty="0"/>
              <a:t>Charging Infrastructure Optimization:</a:t>
            </a:r>
            <a:r>
              <a:rPr lang="en-US" sz="1500" dirty="0"/>
              <a:t> </a:t>
            </a:r>
          </a:p>
          <a:p>
            <a:pPr lvl="1"/>
            <a:r>
              <a:rPr lang="en-US" sz="1500" dirty="0"/>
              <a:t>Add analysis to identify areas with high EV density but low charging station coverage to guide infrastructure investment decisions.</a:t>
            </a:r>
          </a:p>
          <a:p>
            <a:pPr>
              <a:spcBef>
                <a:spcPts val="500"/>
              </a:spcBef>
            </a:pPr>
            <a:r>
              <a:rPr lang="en-US" sz="1500" b="1" dirty="0"/>
              <a:t>Economic Impact Analysis:</a:t>
            </a:r>
            <a:r>
              <a:rPr lang="en-US" sz="1500" dirty="0"/>
              <a:t> </a:t>
            </a:r>
          </a:p>
          <a:p>
            <a:pPr lvl="1"/>
            <a:r>
              <a:rPr lang="en-US" sz="1500" dirty="0"/>
              <a:t>Include metrics such as fuel cost savings, government subsidy impact, and employment generated by the EV industry.</a:t>
            </a:r>
          </a:p>
          <a:p>
            <a:pPr>
              <a:spcBef>
                <a:spcPts val="500"/>
              </a:spcBef>
            </a:pPr>
            <a:r>
              <a:rPr lang="en-US" sz="1500" b="1" dirty="0"/>
              <a:t>Mobile Accessibility:</a:t>
            </a:r>
            <a:r>
              <a:rPr lang="en-US" sz="1500" dirty="0"/>
              <a:t> </a:t>
            </a:r>
          </a:p>
          <a:p>
            <a:pPr lvl="1"/>
            <a:r>
              <a:rPr lang="en-US" sz="1500" dirty="0"/>
              <a:t>Deploy the dashboard on Power BI Service to make it accessible on mobile devices for on-the-go decision making by stakeholders.</a:t>
            </a:r>
          </a:p>
          <a:p>
            <a:pPr marL="0" indent="0">
              <a:spcBef>
                <a:spcPts val="500"/>
              </a:spcBef>
              <a:buNone/>
            </a:pPr>
            <a:endParaRPr lang="en-GB" sz="1500" dirty="0">
              <a:latin typeface="Franklin Gothic Book" panose="020B0503020102020204" pitchFamily="34" charset="0"/>
            </a:endParaRPr>
          </a:p>
        </p:txBody>
      </p:sp>
    </p:spTree>
    <p:extLst>
      <p:ext uri="{BB962C8B-B14F-4D97-AF65-F5344CB8AC3E}">
        <p14:creationId xmlns:p14="http://schemas.microsoft.com/office/powerpoint/2010/main" val="3744199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0515600" cy="4251960"/>
          </a:xfrm>
        </p:spPr>
        <p:txBody>
          <a:bodyPr vert="horz" lIns="91440" tIns="45720" rIns="91440" bIns="45720" rtlCol="0" anchor="t">
            <a:normAutofit/>
          </a:bodyPr>
          <a:lstStyle/>
          <a:p>
            <a:pPr marL="0" indent="0">
              <a:lnSpc>
                <a:spcPct val="150000"/>
              </a:lnSpc>
              <a:spcBef>
                <a:spcPts val="0"/>
              </a:spcBef>
              <a:buNone/>
            </a:pPr>
            <a:r>
              <a:rPr lang="en-US" sz="1500" dirty="0">
                <a:latin typeface="Franklin Gothic Book" panose="020B0503020102020204" pitchFamily="34" charset="0"/>
              </a:rPr>
              <a:t>Government of India EV Data: Ministry of Road Transport and Highways (VAHAN Database) – </a:t>
            </a:r>
            <a:r>
              <a:rPr lang="en-US" sz="1500" dirty="0">
                <a:latin typeface="Franklin Gothic Book" panose="020B0503020102020204" pitchFamily="34" charset="0"/>
                <a:hlinkClick r:id="rId2"/>
              </a:rPr>
              <a:t>https://vahan.parivahan.gov.in</a:t>
            </a:r>
            <a:endParaRPr lang="en-US" sz="1500" dirty="0">
              <a:latin typeface="Franklin Gothic Book" panose="020B0503020102020204" pitchFamily="34" charset="0"/>
            </a:endParaRPr>
          </a:p>
          <a:p>
            <a:pPr marL="0" indent="0">
              <a:lnSpc>
                <a:spcPct val="150000"/>
              </a:lnSpc>
              <a:spcBef>
                <a:spcPts val="0"/>
              </a:spcBef>
              <a:buNone/>
            </a:pPr>
            <a:r>
              <a:rPr lang="en-US" sz="1500" dirty="0">
                <a:latin typeface="Franklin Gothic Book" panose="020B0503020102020204" pitchFamily="34" charset="0"/>
              </a:rPr>
              <a:t>• NITI Aayog Reports on Electric Mobility in India – </a:t>
            </a:r>
            <a:r>
              <a:rPr lang="en-US" sz="1500" dirty="0">
                <a:latin typeface="Franklin Gothic Book" panose="020B0503020102020204" pitchFamily="34" charset="0"/>
                <a:hlinkClick r:id="rId3"/>
              </a:rPr>
              <a:t>https://www.niti.gov.in</a:t>
            </a:r>
            <a:endParaRPr lang="en-US" sz="1500" dirty="0">
              <a:latin typeface="Franklin Gothic Book" panose="020B0503020102020204" pitchFamily="34" charset="0"/>
            </a:endParaRPr>
          </a:p>
          <a:p>
            <a:pPr marL="0" indent="0">
              <a:lnSpc>
                <a:spcPct val="150000"/>
              </a:lnSpc>
              <a:spcBef>
                <a:spcPts val="0"/>
              </a:spcBef>
              <a:buNone/>
            </a:pPr>
            <a:r>
              <a:rPr lang="en-US" sz="1500" dirty="0">
                <a:latin typeface="Franklin Gothic Book" panose="020B0503020102020204" pitchFamily="34" charset="0"/>
              </a:rPr>
              <a:t>• International Energy Agency (IEA) Global EV Outlook Reports – </a:t>
            </a:r>
            <a:r>
              <a:rPr lang="en-US" sz="1500" dirty="0">
                <a:latin typeface="Franklin Gothic Book" panose="020B0503020102020204" pitchFamily="34" charset="0"/>
                <a:hlinkClick r:id="rId4"/>
              </a:rPr>
              <a:t>https://www.iea.org</a:t>
            </a:r>
            <a:endParaRPr lang="en-US" sz="1500" dirty="0">
              <a:latin typeface="Franklin Gothic Book" panose="020B0503020102020204" pitchFamily="34" charset="0"/>
            </a:endParaRPr>
          </a:p>
          <a:p>
            <a:pPr marL="0" indent="0">
              <a:lnSpc>
                <a:spcPct val="150000"/>
              </a:lnSpc>
              <a:spcBef>
                <a:spcPts val="0"/>
              </a:spcBef>
              <a:buNone/>
            </a:pPr>
            <a:r>
              <a:rPr lang="en-US" sz="1500" dirty="0">
                <a:latin typeface="Franklin Gothic Book" panose="020B0503020102020204" pitchFamily="34" charset="0"/>
              </a:rPr>
              <a:t>• Microsoft Power BI Documentation –  </a:t>
            </a:r>
            <a:r>
              <a:rPr lang="en-US" sz="1500" dirty="0">
                <a:latin typeface="Franklin Gothic Book" panose="020B0503020102020204" pitchFamily="34" charset="0"/>
                <a:hlinkClick r:id="rId5"/>
              </a:rPr>
              <a:t>https://learn.microsoft.com/power-bi</a:t>
            </a:r>
            <a:r>
              <a:rPr lang="en-US" sz="1500" dirty="0">
                <a:latin typeface="Franklin Gothic Book" panose="020B0503020102020204" pitchFamily="34" charset="0"/>
              </a:rPr>
              <a:t> </a:t>
            </a:r>
          </a:p>
          <a:p>
            <a:pPr marL="0" indent="0">
              <a:lnSpc>
                <a:spcPct val="150000"/>
              </a:lnSpc>
              <a:spcBef>
                <a:spcPts val="0"/>
              </a:spcBef>
              <a:buNone/>
            </a:pPr>
            <a:r>
              <a:rPr lang="en-US" sz="1500" dirty="0">
                <a:latin typeface="Franklin Gothic Book" panose="020B0503020102020204" pitchFamily="34" charset="0"/>
              </a:rPr>
              <a:t>• Electric Vehicle Market Research Articles and Reports</a:t>
            </a:r>
          </a:p>
          <a:p>
            <a:pPr marL="0" indent="0">
              <a:buNone/>
            </a:pPr>
            <a:endParaRPr lang="en-US" sz="1500" dirty="0">
              <a:latin typeface="Franklin Gothic Book" panose="020B0503020102020204" pitchFamily="34" charset="0"/>
            </a:endParaRPr>
          </a:p>
          <a:p>
            <a:pPr marL="0" indent="0">
              <a:buNone/>
            </a:pPr>
            <a:r>
              <a:rPr lang="en-IN" sz="1500" dirty="0">
                <a:latin typeface="Franklin Gothic Book" panose="020B0503020102020204" pitchFamily="34" charset="0"/>
              </a:rPr>
              <a:t>GitHub Link: </a:t>
            </a:r>
            <a:r>
              <a:rPr lang="en-IN" sz="1500" dirty="0">
                <a:latin typeface="Franklin Gothic Book" panose="020B0503020102020204" pitchFamily="34" charset="0"/>
                <a:hlinkClick r:id="rId6"/>
              </a:rPr>
              <a:t>https://github.com/krit-k7/EV-Demand-Impact-Analysis</a:t>
            </a:r>
            <a:endParaRPr lang="en-IN" sz="1500" dirty="0">
              <a:latin typeface="Franklin Gothic Book" panose="020B0503020102020204" pitchFamily="34" charset="0"/>
            </a:endParaRPr>
          </a:p>
        </p:txBody>
      </p:sp>
    </p:spTree>
    <p:extLst>
      <p:ext uri="{BB962C8B-B14F-4D97-AF65-F5344CB8AC3E}">
        <p14:creationId xmlns:p14="http://schemas.microsoft.com/office/powerpoint/2010/main" val="1691700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TotalTime>
  <Words>1239</Words>
  <Application>Microsoft Office PowerPoint</Application>
  <PresentationFormat>Widescreen</PresentationFormat>
  <Paragraphs>105</Paragraphs>
  <Slides>11</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11</vt:i4>
      </vt:variant>
    </vt:vector>
  </HeadingPairs>
  <TitlesOfParts>
    <vt:vector size="17"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Ashok Giri</cp:lastModifiedBy>
  <cp:revision>101</cp:revision>
  <dcterms:created xsi:type="dcterms:W3CDTF">2024-05-21T11:55:07Z</dcterms:created>
  <dcterms:modified xsi:type="dcterms:W3CDTF">2026-03-13T18:32:53Z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